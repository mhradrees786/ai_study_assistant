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274320"/>
            <a:ext cx="2286000" cy="22860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89920" y="3200400"/>
            <a:ext cx="1645920" cy="164592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26880" y="5029200"/>
            <a:ext cx="1005840" cy="1005840"/>
          </a:xfrm>
          <a:prstGeom prst="ellipse">
            <a:avLst/>
          </a:prstGeom>
          <a:solidFill>
            <a:srgbClr val="064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645920"/>
            <a:ext cx="8046720"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83080"/>
            <a:ext cx="8686800" cy="1097280"/>
          </a:xfrm>
          <a:prstGeom prst="rect">
            <a:avLst/>
          </a:prstGeom>
          <a:noFill/>
        </p:spPr>
        <p:txBody>
          <a:bodyPr wrap="square">
            <a:spAutoFit/>
          </a:bodyPr>
          <a:lstStyle/>
          <a:p>
            <a:pPr algn="l"/>
            <a:r>
              <a:rPr sz="4800" b="1" i="0">
                <a:solidFill>
                  <a:srgbClr val="FFFFFF"/>
                </a:solidFill>
                <a:latin typeface="Calibri"/>
              </a:rPr>
              <a:t>AI STUDY ASSISTANT</a:t>
            </a:r>
          </a:p>
        </p:txBody>
      </p:sp>
      <p:sp>
        <p:nvSpPr>
          <p:cNvPr id="8" name="TextBox 7"/>
          <p:cNvSpPr txBox="1"/>
          <p:nvPr/>
        </p:nvSpPr>
        <p:spPr>
          <a:xfrm>
            <a:off x="457200" y="2880360"/>
            <a:ext cx="8686800" cy="502920"/>
          </a:xfrm>
          <a:prstGeom prst="rect">
            <a:avLst/>
          </a:prstGeom>
          <a:noFill/>
        </p:spPr>
        <p:txBody>
          <a:bodyPr wrap="square">
            <a:spAutoFit/>
          </a:bodyPr>
          <a:lstStyle/>
          <a:p>
            <a:pPr algn="l"/>
            <a:r>
              <a:rPr sz="1700" b="0" i="0">
                <a:solidFill>
                  <a:srgbClr val="06B6D4"/>
                </a:solidFill>
                <a:latin typeface="Calibri"/>
              </a:rPr>
              <a:t>Intelligent Learning Platform  —  Powered by Groq AI</a:t>
            </a:r>
          </a:p>
        </p:txBody>
      </p:sp>
      <p:sp>
        <p:nvSpPr>
          <p:cNvPr id="9" name="Rectangle 8"/>
          <p:cNvSpPr/>
          <p:nvPr/>
        </p:nvSpPr>
        <p:spPr>
          <a:xfrm>
            <a:off x="457200" y="3703320"/>
            <a:ext cx="3520440"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703320"/>
            <a:ext cx="352044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822191"/>
            <a:ext cx="3200400" cy="320040"/>
          </a:xfrm>
          <a:prstGeom prst="rect">
            <a:avLst/>
          </a:prstGeom>
          <a:noFill/>
        </p:spPr>
        <p:txBody>
          <a:bodyPr wrap="square">
            <a:spAutoFit/>
          </a:bodyPr>
          <a:lstStyle/>
          <a:p>
            <a:pPr algn="l"/>
            <a:r>
              <a:rPr sz="1000" b="0" i="0">
                <a:solidFill>
                  <a:srgbClr val="94A3B8"/>
                </a:solidFill>
                <a:latin typeface="Calibri"/>
              </a:rPr>
              <a:t>Subject</a:t>
            </a:r>
          </a:p>
        </p:txBody>
      </p:sp>
      <p:sp>
        <p:nvSpPr>
          <p:cNvPr id="12" name="TextBox 11"/>
          <p:cNvSpPr txBox="1"/>
          <p:nvPr/>
        </p:nvSpPr>
        <p:spPr>
          <a:xfrm>
            <a:off x="621792" y="4133087"/>
            <a:ext cx="3200400" cy="502920"/>
          </a:xfrm>
          <a:prstGeom prst="rect">
            <a:avLst/>
          </a:prstGeom>
          <a:noFill/>
        </p:spPr>
        <p:txBody>
          <a:bodyPr wrap="square">
            <a:spAutoFit/>
          </a:bodyPr>
          <a:lstStyle/>
          <a:p>
            <a:pPr algn="l"/>
            <a:r>
              <a:rPr sz="1400" b="1" i="0">
                <a:solidFill>
                  <a:srgbClr val="FFFFFF"/>
                </a:solidFill>
                <a:latin typeface="Calibri"/>
              </a:rPr>
              <a:t>Artificial Intelligence</a:t>
            </a:r>
          </a:p>
        </p:txBody>
      </p:sp>
      <p:sp>
        <p:nvSpPr>
          <p:cNvPr id="13" name="Rectangle 12"/>
          <p:cNvSpPr/>
          <p:nvPr/>
        </p:nvSpPr>
        <p:spPr>
          <a:xfrm>
            <a:off x="4206240" y="3703320"/>
            <a:ext cx="3520440"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3703320"/>
            <a:ext cx="352044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1" y="3822191"/>
            <a:ext cx="3200400" cy="320040"/>
          </a:xfrm>
          <a:prstGeom prst="rect">
            <a:avLst/>
          </a:prstGeom>
          <a:noFill/>
        </p:spPr>
        <p:txBody>
          <a:bodyPr wrap="square">
            <a:spAutoFit/>
          </a:bodyPr>
          <a:lstStyle/>
          <a:p>
            <a:pPr algn="l"/>
            <a:r>
              <a:rPr sz="1000" b="0" i="0">
                <a:solidFill>
                  <a:srgbClr val="94A3B8"/>
                </a:solidFill>
                <a:latin typeface="Calibri"/>
              </a:rPr>
              <a:t>Course Code</a:t>
            </a:r>
          </a:p>
        </p:txBody>
      </p:sp>
      <p:sp>
        <p:nvSpPr>
          <p:cNvPr id="16" name="TextBox 15"/>
          <p:cNvSpPr txBox="1"/>
          <p:nvPr/>
        </p:nvSpPr>
        <p:spPr>
          <a:xfrm>
            <a:off x="4370831" y="4133087"/>
            <a:ext cx="3200400" cy="502920"/>
          </a:xfrm>
          <a:prstGeom prst="rect">
            <a:avLst/>
          </a:prstGeom>
          <a:noFill/>
        </p:spPr>
        <p:txBody>
          <a:bodyPr wrap="square">
            <a:spAutoFit/>
          </a:bodyPr>
          <a:lstStyle/>
          <a:p>
            <a:pPr algn="l"/>
            <a:r>
              <a:rPr sz="1400" b="1" i="0">
                <a:solidFill>
                  <a:srgbClr val="FFFFFF"/>
                </a:solidFill>
                <a:latin typeface="Calibri"/>
              </a:rPr>
              <a:t>CS-602</a:t>
            </a:r>
          </a:p>
        </p:txBody>
      </p:sp>
      <p:sp>
        <p:nvSpPr>
          <p:cNvPr id="17" name="Rectangle 16"/>
          <p:cNvSpPr/>
          <p:nvPr/>
        </p:nvSpPr>
        <p:spPr>
          <a:xfrm>
            <a:off x="7955279" y="3703320"/>
            <a:ext cx="3520440"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3703320"/>
            <a:ext cx="352044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1" y="3822191"/>
            <a:ext cx="3200400" cy="320040"/>
          </a:xfrm>
          <a:prstGeom prst="rect">
            <a:avLst/>
          </a:prstGeom>
          <a:noFill/>
        </p:spPr>
        <p:txBody>
          <a:bodyPr wrap="square">
            <a:spAutoFit/>
          </a:bodyPr>
          <a:lstStyle/>
          <a:p>
            <a:pPr algn="l"/>
            <a:r>
              <a:rPr sz="1000" b="0" i="0">
                <a:solidFill>
                  <a:srgbClr val="94A3B8"/>
                </a:solidFill>
                <a:latin typeface="Calibri"/>
              </a:rPr>
              <a:t>Instructor</a:t>
            </a:r>
          </a:p>
        </p:txBody>
      </p:sp>
      <p:sp>
        <p:nvSpPr>
          <p:cNvPr id="20" name="TextBox 19"/>
          <p:cNvSpPr txBox="1"/>
          <p:nvPr/>
        </p:nvSpPr>
        <p:spPr>
          <a:xfrm>
            <a:off x="8119871" y="4133087"/>
            <a:ext cx="3200400" cy="502920"/>
          </a:xfrm>
          <a:prstGeom prst="rect">
            <a:avLst/>
          </a:prstGeom>
          <a:noFill/>
        </p:spPr>
        <p:txBody>
          <a:bodyPr wrap="square">
            <a:spAutoFit/>
          </a:bodyPr>
          <a:lstStyle/>
          <a:p>
            <a:pPr algn="l"/>
            <a:r>
              <a:rPr sz="1400" b="1" i="0">
                <a:solidFill>
                  <a:srgbClr val="FFFFFF"/>
                </a:solidFill>
                <a:latin typeface="Calibri"/>
              </a:rPr>
              <a:t>Faisal Hafeez</a:t>
            </a:r>
          </a:p>
        </p:txBody>
      </p:sp>
      <p:sp>
        <p:nvSpPr>
          <p:cNvPr id="21" name="TextBox 20"/>
          <p:cNvSpPr txBox="1"/>
          <p:nvPr/>
        </p:nvSpPr>
        <p:spPr>
          <a:xfrm>
            <a:off x="457200" y="5029200"/>
            <a:ext cx="8686800" cy="411480"/>
          </a:xfrm>
          <a:prstGeom prst="rect">
            <a:avLst/>
          </a:prstGeom>
          <a:noFill/>
        </p:spPr>
        <p:txBody>
          <a:bodyPr wrap="square">
            <a:spAutoFit/>
          </a:bodyPr>
          <a:lstStyle/>
          <a:p>
            <a:pPr algn="l"/>
            <a:r>
              <a:rPr sz="1300" b="0" i="0">
                <a:solidFill>
                  <a:srgbClr val="F1F5F9"/>
                </a:solidFill>
                <a:latin typeface="Calibri"/>
              </a:rPr>
              <a:t>Submitted by:   Muhammad Adrees   &amp;   Rizwan Haider</a:t>
            </a:r>
          </a:p>
        </p:txBody>
      </p:sp>
      <p:sp>
        <p:nvSpPr>
          <p:cNvPr id="22" name="TextBox 21"/>
          <p:cNvSpPr txBox="1"/>
          <p:nvPr/>
        </p:nvSpPr>
        <p:spPr>
          <a:xfrm>
            <a:off x="457200" y="5440680"/>
            <a:ext cx="8686800" cy="365760"/>
          </a:xfrm>
          <a:prstGeom prst="rect">
            <a:avLst/>
          </a:prstGeom>
          <a:noFill/>
        </p:spPr>
        <p:txBody>
          <a:bodyPr wrap="square">
            <a:spAutoFit/>
          </a:bodyPr>
          <a:lstStyle/>
          <a:p>
            <a:pPr algn="l"/>
            <a:r>
              <a:rPr sz="1200" b="0" i="0">
                <a:solidFill>
                  <a:srgbClr val="94A3B8"/>
                </a:solidFill>
                <a:latin typeface="Calibri"/>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ABSTRACT</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Project Overview</a:t>
            </a:r>
          </a:p>
        </p:txBody>
      </p:sp>
      <p:sp>
        <p:nvSpPr>
          <p:cNvPr id="6" name="Rectangle 5"/>
          <p:cNvSpPr/>
          <p:nvPr/>
        </p:nvSpPr>
        <p:spPr>
          <a:xfrm>
            <a:off x="365760" y="1417320"/>
            <a:ext cx="114300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51206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10789920" cy="502920"/>
          </a:xfrm>
          <a:prstGeom prst="rect">
            <a:avLst/>
          </a:prstGeom>
          <a:noFill/>
        </p:spPr>
        <p:txBody>
          <a:bodyPr wrap="square">
            <a:spAutoFit/>
          </a:bodyPr>
          <a:lstStyle/>
          <a:p>
            <a:pPr algn="l"/>
            <a:r>
              <a:rPr sz="1600" b="1" i="0">
                <a:solidFill>
                  <a:srgbClr val="1E40AF"/>
                </a:solidFill>
                <a:latin typeface="Calibri"/>
              </a:rPr>
              <a:t>Abstract</a:t>
            </a:r>
          </a:p>
        </p:txBody>
      </p:sp>
      <p:sp>
        <p:nvSpPr>
          <p:cNvPr id="9" name="TextBox 8"/>
          <p:cNvSpPr txBox="1"/>
          <p:nvPr/>
        </p:nvSpPr>
        <p:spPr>
          <a:xfrm>
            <a:off x="777240" y="2057400"/>
            <a:ext cx="10789920" cy="4206240"/>
          </a:xfrm>
          <a:prstGeom prst="rect">
            <a:avLst/>
          </a:prstGeom>
          <a:noFill/>
        </p:spPr>
        <p:txBody>
          <a:bodyPr wrap="square">
            <a:spAutoFit/>
          </a:bodyPr>
          <a:lstStyle/>
          <a:p>
            <a:r>
              <a:rPr sz="1300">
                <a:solidFill>
                  <a:srgbClr val="1E293B"/>
                </a:solidFill>
                <a:latin typeface="Calibri"/>
              </a:rPr>
              <a:t>Artificial Intelligence has significantly transformed various sectors, including education. The AI Study Assistant is an intelligent desktop application designed to provide students with personalized learning support through natural language interaction. The system combines Artificial Intelligence, Natural Language Processing (NLP), Speech Recognition, Text-to-Speech technology, and document processing to create an interactive educational environment.
The application allows students to ask questions, upload study materials, receive instant responses, and interact through voice commands. The project demonstrates how AI can improve learning efficiency and academic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INTRODUCTION TO ARTIFICIAL INTELLIGENCE</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What is AI?</a:t>
            </a:r>
          </a:p>
        </p:txBody>
      </p:sp>
      <p:sp>
        <p:nvSpPr>
          <p:cNvPr id="6" name="TextBox 5"/>
          <p:cNvSpPr txBox="1"/>
          <p:nvPr/>
        </p:nvSpPr>
        <p:spPr>
          <a:xfrm>
            <a:off x="457200" y="1417320"/>
            <a:ext cx="11430000" cy="777240"/>
          </a:xfrm>
          <a:prstGeom prst="rect">
            <a:avLst/>
          </a:prstGeom>
          <a:noFill/>
        </p:spPr>
        <p:txBody>
          <a:bodyPr wrap="square">
            <a:spAutoFit/>
          </a:bodyPr>
          <a:lstStyle/>
          <a:p>
            <a:pPr algn="l"/>
            <a:r>
              <a:rPr sz="1300" b="0" i="0">
                <a:solidFill>
                  <a:srgbClr val="F1F5F9"/>
                </a:solidFill>
                <a:latin typeface="Calibri"/>
              </a:rPr>
              <a:t>Artificial Intelligence (AI) refers to the simulation of human intelligence in machines that are programmed to think, learn, reason, and make decisions.</a:t>
            </a:r>
          </a:p>
        </p:txBody>
      </p:sp>
      <p:sp>
        <p:nvSpPr>
          <p:cNvPr id="7" name="Rectangle 6"/>
          <p:cNvSpPr/>
          <p:nvPr/>
        </p:nvSpPr>
        <p:spPr>
          <a:xfrm>
            <a:off x="365760" y="2377440"/>
            <a:ext cx="3611880" cy="1691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800" y="2514600"/>
            <a:ext cx="594360" cy="59436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82112"/>
            <a:ext cx="3337560" cy="384048"/>
          </a:xfrm>
          <a:prstGeom prst="rect">
            <a:avLst/>
          </a:prstGeom>
          <a:noFill/>
        </p:spPr>
        <p:txBody>
          <a:bodyPr wrap="square">
            <a:spAutoFit/>
          </a:bodyPr>
          <a:lstStyle/>
          <a:p>
            <a:pPr algn="ctr"/>
            <a:r>
              <a:rPr sz="1300" b="1" i="0">
                <a:solidFill>
                  <a:srgbClr val="FFFFFF"/>
                </a:solidFill>
                <a:latin typeface="Calibri"/>
              </a:rPr>
              <a:t>Learning</a:t>
            </a:r>
          </a:p>
        </p:txBody>
      </p:sp>
      <p:sp>
        <p:nvSpPr>
          <p:cNvPr id="10" name="TextBox 9"/>
          <p:cNvSpPr txBox="1"/>
          <p:nvPr/>
        </p:nvSpPr>
        <p:spPr>
          <a:xfrm>
            <a:off x="502920" y="3566160"/>
            <a:ext cx="3337560" cy="384048"/>
          </a:xfrm>
          <a:prstGeom prst="rect">
            <a:avLst/>
          </a:prstGeom>
          <a:noFill/>
        </p:spPr>
        <p:txBody>
          <a:bodyPr wrap="square">
            <a:spAutoFit/>
          </a:bodyPr>
          <a:lstStyle/>
          <a:p>
            <a:pPr algn="ctr"/>
            <a:r>
              <a:rPr sz="1200" b="0" i="0">
                <a:solidFill>
                  <a:srgbClr val="94A3B8"/>
                </a:solidFill>
                <a:latin typeface="Calibri"/>
              </a:rPr>
              <a:t>from data</a:t>
            </a:r>
          </a:p>
        </p:txBody>
      </p:sp>
      <p:sp>
        <p:nvSpPr>
          <p:cNvPr id="11" name="Rectangle 10"/>
          <p:cNvSpPr/>
          <p:nvPr/>
        </p:nvSpPr>
        <p:spPr>
          <a:xfrm>
            <a:off x="4297680" y="2377440"/>
            <a:ext cx="3611880" cy="1691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60720" y="251460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3182112"/>
            <a:ext cx="3337560" cy="384048"/>
          </a:xfrm>
          <a:prstGeom prst="rect">
            <a:avLst/>
          </a:prstGeom>
          <a:noFill/>
        </p:spPr>
        <p:txBody>
          <a:bodyPr wrap="square">
            <a:spAutoFit/>
          </a:bodyPr>
          <a:lstStyle/>
          <a:p>
            <a:pPr algn="ctr"/>
            <a:r>
              <a:rPr sz="1300" b="1" i="0">
                <a:solidFill>
                  <a:srgbClr val="FFFFFF"/>
                </a:solidFill>
                <a:latin typeface="Calibri"/>
              </a:rPr>
              <a:t>Problem</a:t>
            </a:r>
          </a:p>
        </p:txBody>
      </p:sp>
      <p:sp>
        <p:nvSpPr>
          <p:cNvPr id="14" name="TextBox 13"/>
          <p:cNvSpPr txBox="1"/>
          <p:nvPr/>
        </p:nvSpPr>
        <p:spPr>
          <a:xfrm>
            <a:off x="4434840" y="3566160"/>
            <a:ext cx="3337560" cy="384048"/>
          </a:xfrm>
          <a:prstGeom prst="rect">
            <a:avLst/>
          </a:prstGeom>
          <a:noFill/>
        </p:spPr>
        <p:txBody>
          <a:bodyPr wrap="square">
            <a:spAutoFit/>
          </a:bodyPr>
          <a:lstStyle/>
          <a:p>
            <a:pPr algn="ctr"/>
            <a:r>
              <a:rPr sz="1200" b="0" i="0">
                <a:solidFill>
                  <a:srgbClr val="94A3B8"/>
                </a:solidFill>
                <a:latin typeface="Calibri"/>
              </a:rPr>
              <a:t>Solving</a:t>
            </a:r>
          </a:p>
        </p:txBody>
      </p:sp>
      <p:sp>
        <p:nvSpPr>
          <p:cNvPr id="15" name="Rectangle 14"/>
          <p:cNvSpPr/>
          <p:nvPr/>
        </p:nvSpPr>
        <p:spPr>
          <a:xfrm>
            <a:off x="8229600" y="2377440"/>
            <a:ext cx="3611880" cy="1691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0" y="2514600"/>
            <a:ext cx="594360" cy="5943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3182112"/>
            <a:ext cx="3337560" cy="384048"/>
          </a:xfrm>
          <a:prstGeom prst="rect">
            <a:avLst/>
          </a:prstGeom>
          <a:noFill/>
        </p:spPr>
        <p:txBody>
          <a:bodyPr wrap="square">
            <a:spAutoFit/>
          </a:bodyPr>
          <a:lstStyle/>
          <a:p>
            <a:pPr algn="ctr"/>
            <a:r>
              <a:rPr sz="1300" b="1" i="0">
                <a:solidFill>
                  <a:srgbClr val="FFFFFF"/>
                </a:solidFill>
                <a:latin typeface="Calibri"/>
              </a:rPr>
              <a:t>Pattern</a:t>
            </a:r>
          </a:p>
        </p:txBody>
      </p:sp>
      <p:sp>
        <p:nvSpPr>
          <p:cNvPr id="18" name="TextBox 17"/>
          <p:cNvSpPr txBox="1"/>
          <p:nvPr/>
        </p:nvSpPr>
        <p:spPr>
          <a:xfrm>
            <a:off x="8366760" y="3566160"/>
            <a:ext cx="3337560" cy="384048"/>
          </a:xfrm>
          <a:prstGeom prst="rect">
            <a:avLst/>
          </a:prstGeom>
          <a:noFill/>
        </p:spPr>
        <p:txBody>
          <a:bodyPr wrap="square">
            <a:spAutoFit/>
          </a:bodyPr>
          <a:lstStyle/>
          <a:p>
            <a:pPr algn="ctr"/>
            <a:r>
              <a:rPr sz="1200" b="0" i="0">
                <a:solidFill>
                  <a:srgbClr val="94A3B8"/>
                </a:solidFill>
                <a:latin typeface="Calibri"/>
              </a:rPr>
              <a:t>Recognition</a:t>
            </a:r>
          </a:p>
        </p:txBody>
      </p:sp>
      <p:sp>
        <p:nvSpPr>
          <p:cNvPr id="19" name="Rectangle 18"/>
          <p:cNvSpPr/>
          <p:nvPr/>
        </p:nvSpPr>
        <p:spPr>
          <a:xfrm>
            <a:off x="365760" y="4389120"/>
            <a:ext cx="3611880" cy="1691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828800" y="4526280"/>
            <a:ext cx="594360" cy="5943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193792"/>
            <a:ext cx="3337560" cy="384048"/>
          </a:xfrm>
          <a:prstGeom prst="rect">
            <a:avLst/>
          </a:prstGeom>
          <a:noFill/>
        </p:spPr>
        <p:txBody>
          <a:bodyPr wrap="square">
            <a:spAutoFit/>
          </a:bodyPr>
          <a:lstStyle/>
          <a:p>
            <a:pPr algn="ctr"/>
            <a:r>
              <a:rPr sz="1300" b="1" i="0">
                <a:solidFill>
                  <a:srgbClr val="FFFFFF"/>
                </a:solidFill>
                <a:latin typeface="Calibri"/>
              </a:rPr>
              <a:t>Decision</a:t>
            </a:r>
          </a:p>
        </p:txBody>
      </p:sp>
      <p:sp>
        <p:nvSpPr>
          <p:cNvPr id="22" name="TextBox 21"/>
          <p:cNvSpPr txBox="1"/>
          <p:nvPr/>
        </p:nvSpPr>
        <p:spPr>
          <a:xfrm>
            <a:off x="502920" y="5577840"/>
            <a:ext cx="3337560" cy="384048"/>
          </a:xfrm>
          <a:prstGeom prst="rect">
            <a:avLst/>
          </a:prstGeom>
          <a:noFill/>
        </p:spPr>
        <p:txBody>
          <a:bodyPr wrap="square">
            <a:spAutoFit/>
          </a:bodyPr>
          <a:lstStyle/>
          <a:p>
            <a:pPr algn="ctr"/>
            <a:r>
              <a:rPr sz="1200" b="0" i="0">
                <a:solidFill>
                  <a:srgbClr val="94A3B8"/>
                </a:solidFill>
                <a:latin typeface="Calibri"/>
              </a:rPr>
              <a:t>Making</a:t>
            </a:r>
          </a:p>
        </p:txBody>
      </p:sp>
      <p:sp>
        <p:nvSpPr>
          <p:cNvPr id="23" name="Rectangle 22"/>
          <p:cNvSpPr/>
          <p:nvPr/>
        </p:nvSpPr>
        <p:spPr>
          <a:xfrm>
            <a:off x="4297680" y="4389120"/>
            <a:ext cx="3611880" cy="1691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60720" y="4526280"/>
            <a:ext cx="594360" cy="59436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5193792"/>
            <a:ext cx="3337560" cy="384048"/>
          </a:xfrm>
          <a:prstGeom prst="rect">
            <a:avLst/>
          </a:prstGeom>
          <a:noFill/>
        </p:spPr>
        <p:txBody>
          <a:bodyPr wrap="square">
            <a:spAutoFit/>
          </a:bodyPr>
          <a:lstStyle/>
          <a:p>
            <a:pPr algn="ctr"/>
            <a:r>
              <a:rPr sz="1300" b="1" i="0">
                <a:solidFill>
                  <a:srgbClr val="FFFFFF"/>
                </a:solidFill>
                <a:latin typeface="Calibri"/>
              </a:rPr>
              <a:t>Language</a:t>
            </a:r>
          </a:p>
        </p:txBody>
      </p:sp>
      <p:sp>
        <p:nvSpPr>
          <p:cNvPr id="26" name="TextBox 25"/>
          <p:cNvSpPr txBox="1"/>
          <p:nvPr/>
        </p:nvSpPr>
        <p:spPr>
          <a:xfrm>
            <a:off x="4434840" y="5577840"/>
            <a:ext cx="3337560" cy="384048"/>
          </a:xfrm>
          <a:prstGeom prst="rect">
            <a:avLst/>
          </a:prstGeom>
          <a:noFill/>
        </p:spPr>
        <p:txBody>
          <a:bodyPr wrap="square">
            <a:spAutoFit/>
          </a:bodyPr>
          <a:lstStyle/>
          <a:p>
            <a:pPr algn="ctr"/>
            <a:r>
              <a:rPr sz="1200" b="0" i="0">
                <a:solidFill>
                  <a:srgbClr val="94A3B8"/>
                </a:solidFill>
                <a:latin typeface="Calibri"/>
              </a:rPr>
              <a:t>Understanding</a:t>
            </a:r>
          </a:p>
        </p:txBody>
      </p:sp>
      <p:sp>
        <p:nvSpPr>
          <p:cNvPr id="27" name="Rectangle 26"/>
          <p:cNvSpPr/>
          <p:nvPr/>
        </p:nvSpPr>
        <p:spPr>
          <a:xfrm>
            <a:off x="8229600" y="4389120"/>
            <a:ext cx="3611880" cy="1691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0" y="4526280"/>
            <a:ext cx="594360" cy="5943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60" y="5193792"/>
            <a:ext cx="3337560" cy="384048"/>
          </a:xfrm>
          <a:prstGeom prst="rect">
            <a:avLst/>
          </a:prstGeom>
          <a:noFill/>
        </p:spPr>
        <p:txBody>
          <a:bodyPr wrap="square">
            <a:spAutoFit/>
          </a:bodyPr>
          <a:lstStyle/>
          <a:p>
            <a:pPr algn="ctr"/>
            <a:r>
              <a:rPr sz="1300" b="1" i="0">
                <a:solidFill>
                  <a:srgbClr val="FFFFFF"/>
                </a:solidFill>
                <a:latin typeface="Calibri"/>
              </a:rPr>
              <a:t>Task</a:t>
            </a:r>
          </a:p>
        </p:txBody>
      </p:sp>
      <p:sp>
        <p:nvSpPr>
          <p:cNvPr id="30" name="TextBox 29"/>
          <p:cNvSpPr txBox="1"/>
          <p:nvPr/>
        </p:nvSpPr>
        <p:spPr>
          <a:xfrm>
            <a:off x="8366760" y="5577840"/>
            <a:ext cx="3337560" cy="384048"/>
          </a:xfrm>
          <a:prstGeom prst="rect">
            <a:avLst/>
          </a:prstGeom>
          <a:noFill/>
        </p:spPr>
        <p:txBody>
          <a:bodyPr wrap="square">
            <a:spAutoFit/>
          </a:bodyPr>
          <a:lstStyle/>
          <a:p>
            <a:pPr algn="ctr"/>
            <a:r>
              <a:rPr sz="1200" b="0" i="0">
                <a:solidFill>
                  <a:srgbClr val="94A3B8"/>
                </a:solidFill>
                <a:latin typeface="Calibri"/>
              </a:rPr>
              <a:t>Automation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BACKGROUND OF THE STUDY</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Why this project was needed</a:t>
            </a:r>
          </a:p>
        </p:txBody>
      </p:sp>
      <p:sp>
        <p:nvSpPr>
          <p:cNvPr id="6" name="Rectangle 5"/>
          <p:cNvSpPr/>
          <p:nvPr/>
        </p:nvSpPr>
        <p:spPr>
          <a:xfrm>
            <a:off x="365760" y="1417320"/>
            <a:ext cx="557784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5120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5029200" cy="457200"/>
          </a:xfrm>
          <a:prstGeom prst="rect">
            <a:avLst/>
          </a:prstGeom>
          <a:noFill/>
        </p:spPr>
        <p:txBody>
          <a:bodyPr wrap="square">
            <a:spAutoFit/>
          </a:bodyPr>
          <a:lstStyle/>
          <a:p>
            <a:pPr algn="l"/>
            <a:r>
              <a:rPr sz="1400" b="1" i="0">
                <a:solidFill>
                  <a:srgbClr val="1E40AF"/>
                </a:solidFill>
                <a:latin typeface="Calibri"/>
              </a:rPr>
              <a:t>Traditional Learning Challenges</a:t>
            </a:r>
          </a:p>
        </p:txBody>
      </p:sp>
      <p:sp>
        <p:nvSpPr>
          <p:cNvPr id="9" name="TextBox 8"/>
          <p:cNvSpPr txBox="1"/>
          <p:nvPr/>
        </p:nvSpPr>
        <p:spPr>
          <a:xfrm>
            <a:off x="777240" y="2103120"/>
            <a:ext cx="5029200" cy="4114800"/>
          </a:xfrm>
          <a:prstGeom prst="rect">
            <a:avLst/>
          </a:prstGeom>
          <a:noFill/>
        </p:spPr>
        <p:txBody>
          <a:bodyPr wrap="square">
            <a:spAutoFit/>
          </a:bodyPr>
          <a:lstStyle/>
          <a:p>
            <a:pPr algn="l">
              <a:spcBef>
                <a:spcPts val="300"/>
              </a:spcBef>
            </a:pPr>
            <a:r>
              <a:rPr sz="1300" b="0">
                <a:solidFill>
                  <a:srgbClr val="1E293B"/>
                </a:solidFill>
                <a:latin typeface="Calibri"/>
              </a:rPr>
              <a:t>  ›  Limited teacher availability</a:t>
            </a:r>
          </a:p>
          <a:p>
            <a:pPr algn="l">
              <a:spcBef>
                <a:spcPts val="300"/>
              </a:spcBef>
            </a:pPr>
            <a:r>
              <a:rPr sz="1300" b="0">
                <a:solidFill>
                  <a:srgbClr val="1E293B"/>
                </a:solidFill>
                <a:latin typeface="Calibri"/>
              </a:rPr>
              <a:t>  ›  Lack of personalized support</a:t>
            </a:r>
          </a:p>
          <a:p>
            <a:pPr algn="l">
              <a:spcBef>
                <a:spcPts val="300"/>
              </a:spcBef>
            </a:pPr>
            <a:r>
              <a:rPr sz="1300" b="0">
                <a:solidFill>
                  <a:srgbClr val="1E293B"/>
                </a:solidFill>
                <a:latin typeface="Calibri"/>
              </a:rPr>
              <a:t>  ›  Time constraints on learning</a:t>
            </a:r>
          </a:p>
          <a:p>
            <a:pPr algn="l">
              <a:spcBef>
                <a:spcPts val="300"/>
              </a:spcBef>
            </a:pPr>
            <a:r>
              <a:rPr sz="1300" b="0">
                <a:solidFill>
                  <a:srgbClr val="1E293B"/>
                </a:solidFill>
                <a:latin typeface="Calibri"/>
              </a:rPr>
              <a:t>  ›  Difficulty with complex topics</a:t>
            </a:r>
          </a:p>
          <a:p>
            <a:pPr algn="l">
              <a:spcBef>
                <a:spcPts val="300"/>
              </a:spcBef>
            </a:pPr>
            <a:r>
              <a:rPr sz="1300" b="0">
                <a:solidFill>
                  <a:srgbClr val="1E293B"/>
                </a:solidFill>
                <a:latin typeface="Calibri"/>
              </a:rPr>
              <a:t>  ›  No immediate academic help</a:t>
            </a:r>
          </a:p>
          <a:p>
            <a:pPr algn="l">
              <a:spcBef>
                <a:spcPts val="300"/>
              </a:spcBef>
            </a:pPr>
            <a:r>
              <a:rPr sz="1300" b="0">
                <a:solidFill>
                  <a:srgbClr val="1E293B"/>
                </a:solidFill>
                <a:latin typeface="Calibri"/>
              </a:rPr>
              <a:t>  ›  Resource access limitations</a:t>
            </a:r>
          </a:p>
        </p:txBody>
      </p:sp>
      <p:sp>
        <p:nvSpPr>
          <p:cNvPr id="10" name="Rectangle 9"/>
          <p:cNvSpPr/>
          <p:nvPr/>
        </p:nvSpPr>
        <p:spPr>
          <a:xfrm>
            <a:off x="6263640" y="1417320"/>
            <a:ext cx="557784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256032" cy="51206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554480"/>
            <a:ext cx="5029200" cy="457200"/>
          </a:xfrm>
          <a:prstGeom prst="rect">
            <a:avLst/>
          </a:prstGeom>
          <a:noFill/>
        </p:spPr>
        <p:txBody>
          <a:bodyPr wrap="square">
            <a:spAutoFit/>
          </a:bodyPr>
          <a:lstStyle/>
          <a:p>
            <a:pPr algn="l"/>
            <a:r>
              <a:rPr sz="1400" b="1" i="0">
                <a:solidFill>
                  <a:srgbClr val="0F766E"/>
                </a:solidFill>
                <a:latin typeface="Calibri"/>
              </a:rPr>
              <a:t>How AI Solves These Issues</a:t>
            </a:r>
          </a:p>
        </p:txBody>
      </p:sp>
      <p:sp>
        <p:nvSpPr>
          <p:cNvPr id="13" name="TextBox 12"/>
          <p:cNvSpPr txBox="1"/>
          <p:nvPr/>
        </p:nvSpPr>
        <p:spPr>
          <a:xfrm>
            <a:off x="6675120" y="2103120"/>
            <a:ext cx="5029200" cy="4114800"/>
          </a:xfrm>
          <a:prstGeom prst="rect">
            <a:avLst/>
          </a:prstGeom>
          <a:noFill/>
        </p:spPr>
        <p:txBody>
          <a:bodyPr wrap="square">
            <a:spAutoFit/>
          </a:bodyPr>
          <a:lstStyle/>
          <a:p>
            <a:pPr algn="l">
              <a:spcBef>
                <a:spcPts val="300"/>
              </a:spcBef>
            </a:pPr>
            <a:r>
              <a:rPr sz="1300" b="0">
                <a:solidFill>
                  <a:srgbClr val="1E293B"/>
                </a:solidFill>
                <a:latin typeface="Calibri"/>
              </a:rPr>
              <a:t>  ›  Instant academic assistance</a:t>
            </a:r>
          </a:p>
          <a:p>
            <a:pPr algn="l">
              <a:spcBef>
                <a:spcPts val="300"/>
              </a:spcBef>
            </a:pPr>
            <a:r>
              <a:rPr sz="1300" b="0">
                <a:solidFill>
                  <a:srgbClr val="1E293B"/>
                </a:solidFill>
                <a:latin typeface="Calibri"/>
              </a:rPr>
              <a:t>  ›  Personalized learning paths</a:t>
            </a:r>
          </a:p>
          <a:p>
            <a:pPr algn="l">
              <a:spcBef>
                <a:spcPts val="300"/>
              </a:spcBef>
            </a:pPr>
            <a:r>
              <a:rPr sz="1300" b="0">
                <a:solidFill>
                  <a:srgbClr val="1E293B"/>
                </a:solidFill>
                <a:latin typeface="Calibri"/>
              </a:rPr>
              <a:t>  ›  Available 24/7 anytime</a:t>
            </a:r>
          </a:p>
          <a:p>
            <a:pPr algn="l">
              <a:spcBef>
                <a:spcPts val="300"/>
              </a:spcBef>
            </a:pPr>
            <a:r>
              <a:rPr sz="1300" b="0">
                <a:solidFill>
                  <a:srgbClr val="1E293B"/>
                </a:solidFill>
                <a:latin typeface="Calibri"/>
              </a:rPr>
              <a:t>  ›  Handles complex topic queries</a:t>
            </a:r>
          </a:p>
          <a:p>
            <a:pPr algn="l">
              <a:spcBef>
                <a:spcPts val="300"/>
              </a:spcBef>
            </a:pPr>
            <a:r>
              <a:rPr sz="1300" b="0">
                <a:solidFill>
                  <a:srgbClr val="1E293B"/>
                </a:solidFill>
                <a:latin typeface="Calibri"/>
              </a:rPr>
              <a:t>  ›  Supports multiple learning styles</a:t>
            </a:r>
          </a:p>
          <a:p>
            <a:pPr algn="l">
              <a:spcBef>
                <a:spcPts val="300"/>
              </a:spcBef>
            </a:pPr>
            <a:r>
              <a:rPr sz="1300" b="0">
                <a:solidFill>
                  <a:srgbClr val="1E293B"/>
                </a:solidFill>
                <a:latin typeface="Calibri"/>
              </a:rPr>
              <a:t>  ›  Free and accessible to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PROBLEM STATEMENT</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Challenges students face during self-study</a:t>
            </a:r>
          </a:p>
        </p:txBody>
      </p:sp>
      <p:sp>
        <p:nvSpPr>
          <p:cNvPr id="6" name="Rectangle 5"/>
          <p:cNvSpPr/>
          <p:nvPr/>
        </p:nvSpPr>
        <p:spPr>
          <a:xfrm>
            <a:off x="365760" y="1417320"/>
            <a:ext cx="36576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3657600" cy="457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3291840" cy="384048"/>
          </a:xfrm>
          <a:prstGeom prst="rect">
            <a:avLst/>
          </a:prstGeom>
          <a:noFill/>
        </p:spPr>
        <p:txBody>
          <a:bodyPr wrap="square">
            <a:spAutoFit/>
          </a:bodyPr>
          <a:lstStyle/>
          <a:p>
            <a:pPr algn="l"/>
            <a:r>
              <a:rPr sz="1400" b="1" i="0">
                <a:solidFill>
                  <a:srgbClr val="FFFFFF"/>
                </a:solidFill>
                <a:latin typeface="Calibri"/>
              </a:rPr>
              <a:t>📚  Academic</a:t>
            </a:r>
          </a:p>
        </p:txBody>
      </p:sp>
      <p:sp>
        <p:nvSpPr>
          <p:cNvPr id="9" name="TextBox 8"/>
          <p:cNvSpPr txBox="1"/>
          <p:nvPr/>
        </p:nvSpPr>
        <p:spPr>
          <a:xfrm>
            <a:off x="548640" y="2011680"/>
            <a:ext cx="3291840" cy="4389120"/>
          </a:xfrm>
          <a:prstGeom prst="rect">
            <a:avLst/>
          </a:prstGeom>
          <a:noFill/>
        </p:spPr>
        <p:txBody>
          <a:bodyPr wrap="square">
            <a:spAutoFit/>
          </a:bodyPr>
          <a:lstStyle/>
          <a:p>
            <a:pPr algn="l">
              <a:spcBef>
                <a:spcPts val="300"/>
              </a:spcBef>
            </a:pPr>
            <a:r>
              <a:rPr sz="1200" b="0">
                <a:solidFill>
                  <a:srgbClr val="F1F5F9"/>
                </a:solidFill>
                <a:latin typeface="Calibri"/>
              </a:rPr>
              <a:t>  ›  Difficulty understanding concepts</a:t>
            </a:r>
          </a:p>
          <a:p>
            <a:pPr algn="l">
              <a:spcBef>
                <a:spcPts val="300"/>
              </a:spcBef>
            </a:pPr>
            <a:r>
              <a:rPr sz="1200" b="0">
                <a:solidFill>
                  <a:srgbClr val="F1F5F9"/>
                </a:solidFill>
                <a:latin typeface="Calibri"/>
              </a:rPr>
              <a:t>  ›  Searching large volumes of info</a:t>
            </a:r>
          </a:p>
          <a:p>
            <a:pPr algn="l">
              <a:spcBef>
                <a:spcPts val="300"/>
              </a:spcBef>
            </a:pPr>
            <a:r>
              <a:rPr sz="1200" b="0">
                <a:solidFill>
                  <a:srgbClr val="F1F5F9"/>
                </a:solidFill>
                <a:latin typeface="Calibri"/>
              </a:rPr>
              <a:t>  ›  Lack of instant guidance</a:t>
            </a:r>
          </a:p>
          <a:p>
            <a:pPr algn="l">
              <a:spcBef>
                <a:spcPts val="300"/>
              </a:spcBef>
            </a:pPr>
            <a:r>
              <a:rPr sz="1200" b="0">
                <a:solidFill>
                  <a:srgbClr val="F1F5F9"/>
                </a:solidFill>
                <a:latin typeface="Calibri"/>
              </a:rPr>
              <a:t>  ›  Limited tutor access</a:t>
            </a:r>
          </a:p>
        </p:txBody>
      </p:sp>
      <p:sp>
        <p:nvSpPr>
          <p:cNvPr id="10" name="Rectangle 9"/>
          <p:cNvSpPr/>
          <p:nvPr/>
        </p:nvSpPr>
        <p:spPr>
          <a:xfrm>
            <a:off x="4297680" y="1417320"/>
            <a:ext cx="36576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417320"/>
            <a:ext cx="365760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63040"/>
            <a:ext cx="3291840" cy="384048"/>
          </a:xfrm>
          <a:prstGeom prst="rect">
            <a:avLst/>
          </a:prstGeom>
          <a:noFill/>
        </p:spPr>
        <p:txBody>
          <a:bodyPr wrap="square">
            <a:spAutoFit/>
          </a:bodyPr>
          <a:lstStyle/>
          <a:p>
            <a:pPr algn="l"/>
            <a:r>
              <a:rPr sz="1400" b="1" i="0">
                <a:solidFill>
                  <a:srgbClr val="FFFFFF"/>
                </a:solidFill>
                <a:latin typeface="Calibri"/>
              </a:rPr>
              <a:t>💻  Technical</a:t>
            </a:r>
          </a:p>
        </p:txBody>
      </p:sp>
      <p:sp>
        <p:nvSpPr>
          <p:cNvPr id="13" name="TextBox 12"/>
          <p:cNvSpPr txBox="1"/>
          <p:nvPr/>
        </p:nvSpPr>
        <p:spPr>
          <a:xfrm>
            <a:off x="4480560" y="2011680"/>
            <a:ext cx="3291840" cy="4389120"/>
          </a:xfrm>
          <a:prstGeom prst="rect">
            <a:avLst/>
          </a:prstGeom>
          <a:noFill/>
        </p:spPr>
        <p:txBody>
          <a:bodyPr wrap="square">
            <a:spAutoFit/>
          </a:bodyPr>
          <a:lstStyle/>
          <a:p>
            <a:pPr algn="l">
              <a:spcBef>
                <a:spcPts val="300"/>
              </a:spcBef>
            </a:pPr>
            <a:r>
              <a:rPr sz="1200" b="0">
                <a:solidFill>
                  <a:srgbClr val="F1F5F9"/>
                </a:solidFill>
                <a:latin typeface="Calibri"/>
              </a:rPr>
              <a:t>  ›  Managing study materials</a:t>
            </a:r>
          </a:p>
          <a:p>
            <a:pPr algn="l">
              <a:spcBef>
                <a:spcPts val="300"/>
              </a:spcBef>
            </a:pPr>
            <a:r>
              <a:rPr sz="1200" b="0">
                <a:solidFill>
                  <a:srgbClr val="F1F5F9"/>
                </a:solidFill>
                <a:latin typeface="Calibri"/>
              </a:rPr>
              <a:t>  ›  Extracting info from PDFs</a:t>
            </a:r>
          </a:p>
          <a:p>
            <a:pPr algn="l">
              <a:spcBef>
                <a:spcPts val="300"/>
              </a:spcBef>
            </a:pPr>
            <a:r>
              <a:rPr sz="1200" b="0">
                <a:solidFill>
                  <a:srgbClr val="F1F5F9"/>
                </a:solidFill>
                <a:latin typeface="Calibri"/>
              </a:rPr>
              <a:t>  ›  Organizing learning resources</a:t>
            </a:r>
          </a:p>
          <a:p>
            <a:pPr algn="l">
              <a:spcBef>
                <a:spcPts val="300"/>
              </a:spcBef>
            </a:pPr>
            <a:r>
              <a:rPr sz="1200" b="0">
                <a:solidFill>
                  <a:srgbClr val="F1F5F9"/>
                </a:solidFill>
                <a:latin typeface="Calibri"/>
              </a:rPr>
              <a:t>  ›  No smart search functionality</a:t>
            </a:r>
          </a:p>
        </p:txBody>
      </p:sp>
      <p:sp>
        <p:nvSpPr>
          <p:cNvPr id="14" name="Rectangle 13"/>
          <p:cNvSpPr/>
          <p:nvPr/>
        </p:nvSpPr>
        <p:spPr>
          <a:xfrm>
            <a:off x="8229600" y="1417320"/>
            <a:ext cx="36576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417320"/>
            <a:ext cx="365760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63040"/>
            <a:ext cx="3291840" cy="384048"/>
          </a:xfrm>
          <a:prstGeom prst="rect">
            <a:avLst/>
          </a:prstGeom>
          <a:noFill/>
        </p:spPr>
        <p:txBody>
          <a:bodyPr wrap="square">
            <a:spAutoFit/>
          </a:bodyPr>
          <a:lstStyle/>
          <a:p>
            <a:pPr algn="l"/>
            <a:r>
              <a:rPr sz="1400" b="1" i="0">
                <a:solidFill>
                  <a:srgbClr val="FFFFFF"/>
                </a:solidFill>
                <a:latin typeface="Calibri"/>
              </a:rPr>
              <a:t>⏱  Practical</a:t>
            </a:r>
          </a:p>
        </p:txBody>
      </p:sp>
      <p:sp>
        <p:nvSpPr>
          <p:cNvPr id="17" name="TextBox 16"/>
          <p:cNvSpPr txBox="1"/>
          <p:nvPr/>
        </p:nvSpPr>
        <p:spPr>
          <a:xfrm>
            <a:off x="8412480" y="2011680"/>
            <a:ext cx="3291840" cy="4389120"/>
          </a:xfrm>
          <a:prstGeom prst="rect">
            <a:avLst/>
          </a:prstGeom>
          <a:noFill/>
        </p:spPr>
        <p:txBody>
          <a:bodyPr wrap="square">
            <a:spAutoFit/>
          </a:bodyPr>
          <a:lstStyle/>
          <a:p>
            <a:pPr algn="l">
              <a:spcBef>
                <a:spcPts val="300"/>
              </a:spcBef>
            </a:pPr>
            <a:r>
              <a:rPr sz="1200" b="0">
                <a:solidFill>
                  <a:srgbClr val="F1F5F9"/>
                </a:solidFill>
                <a:latin typeface="Calibri"/>
              </a:rPr>
              <a:t>  ›  No 24/7 academic support</a:t>
            </a:r>
          </a:p>
          <a:p>
            <a:pPr algn="l">
              <a:spcBef>
                <a:spcPts val="300"/>
              </a:spcBef>
            </a:pPr>
            <a:r>
              <a:rPr sz="1200" b="0">
                <a:solidFill>
                  <a:srgbClr val="F1F5F9"/>
                </a:solidFill>
                <a:latin typeface="Calibri"/>
              </a:rPr>
              <a:t>  ›  Expensive tutoring services</a:t>
            </a:r>
          </a:p>
          <a:p>
            <a:pPr algn="l">
              <a:spcBef>
                <a:spcPts val="300"/>
              </a:spcBef>
            </a:pPr>
            <a:r>
              <a:rPr sz="1200" b="0">
                <a:solidFill>
                  <a:srgbClr val="F1F5F9"/>
                </a:solidFill>
                <a:latin typeface="Calibri"/>
              </a:rPr>
              <a:t>  ›  Time wasted on irrelevant searches</a:t>
            </a:r>
          </a:p>
          <a:p>
            <a:pPr algn="l">
              <a:spcBef>
                <a:spcPts val="300"/>
              </a:spcBef>
            </a:pPr>
            <a:r>
              <a:rPr sz="1200" b="0">
                <a:solidFill>
                  <a:srgbClr val="F1F5F9"/>
                </a:solidFill>
                <a:latin typeface="Calibri"/>
              </a:rPr>
              <a:t>  ›  Inefficient study methods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PROJECT OBJECTIVES</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What this project aims to achieve</a:t>
            </a:r>
          </a:p>
        </p:txBody>
      </p:sp>
      <p:sp>
        <p:nvSpPr>
          <p:cNvPr id="6" name="Rectangle 5"/>
          <p:cNvSpPr/>
          <p:nvPr/>
        </p:nvSpPr>
        <p:spPr>
          <a:xfrm>
            <a:off x="365760" y="1417320"/>
            <a:ext cx="54864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5120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4937760" cy="457200"/>
          </a:xfrm>
          <a:prstGeom prst="rect">
            <a:avLst/>
          </a:prstGeom>
          <a:noFill/>
        </p:spPr>
        <p:txBody>
          <a:bodyPr wrap="square">
            <a:spAutoFit/>
          </a:bodyPr>
          <a:lstStyle/>
          <a:p>
            <a:pPr algn="l"/>
            <a:r>
              <a:rPr sz="1400" b="1" i="0">
                <a:solidFill>
                  <a:srgbClr val="1E40AF"/>
                </a:solidFill>
                <a:latin typeface="Calibri"/>
              </a:rPr>
              <a:t>🎯  Primary Objectives</a:t>
            </a:r>
          </a:p>
        </p:txBody>
      </p:sp>
      <p:sp>
        <p:nvSpPr>
          <p:cNvPr id="9" name="TextBox 8"/>
          <p:cNvSpPr txBox="1"/>
          <p:nvPr/>
        </p:nvSpPr>
        <p:spPr>
          <a:xfrm>
            <a:off x="777240" y="2057400"/>
            <a:ext cx="4937760" cy="4206240"/>
          </a:xfrm>
          <a:prstGeom prst="rect">
            <a:avLst/>
          </a:prstGeom>
          <a:noFill/>
        </p:spPr>
        <p:txBody>
          <a:bodyPr wrap="square">
            <a:spAutoFit/>
          </a:bodyPr>
          <a:lstStyle/>
          <a:p>
            <a:pPr algn="l">
              <a:spcBef>
                <a:spcPts val="300"/>
              </a:spcBef>
            </a:pPr>
            <a:r>
              <a:rPr sz="1300" b="0">
                <a:solidFill>
                  <a:srgbClr val="1E293B"/>
                </a:solidFill>
                <a:latin typeface="Calibri"/>
              </a:rPr>
              <a:t>  ›  Develop an AI-powered study assistant</a:t>
            </a:r>
          </a:p>
          <a:p>
            <a:pPr algn="l">
              <a:spcBef>
                <a:spcPts val="300"/>
              </a:spcBef>
            </a:pPr>
            <a:r>
              <a:rPr sz="1300" b="0">
                <a:solidFill>
                  <a:srgbClr val="1E293B"/>
                </a:solidFill>
                <a:latin typeface="Calibri"/>
              </a:rPr>
              <a:t>  ›  Provide intelligent question-answering</a:t>
            </a:r>
          </a:p>
          <a:p>
            <a:pPr algn="l">
              <a:spcBef>
                <a:spcPts val="300"/>
              </a:spcBef>
            </a:pPr>
            <a:r>
              <a:rPr sz="1300" b="0">
                <a:solidFill>
                  <a:srgbClr val="1E293B"/>
                </a:solidFill>
                <a:latin typeface="Calibri"/>
              </a:rPr>
              <a:t>  ›  Facilitate personalized learning support</a:t>
            </a:r>
          </a:p>
          <a:p>
            <a:pPr algn="l">
              <a:spcBef>
                <a:spcPts val="300"/>
              </a:spcBef>
            </a:pPr>
            <a:r>
              <a:rPr sz="1300" b="0">
                <a:solidFill>
                  <a:srgbClr val="1E293B"/>
                </a:solidFill>
                <a:latin typeface="Calibri"/>
              </a:rPr>
              <a:t>  ›  Improve overall study efficiency</a:t>
            </a:r>
          </a:p>
          <a:p>
            <a:pPr algn="l">
              <a:spcBef>
                <a:spcPts val="300"/>
              </a:spcBef>
            </a:pPr>
            <a:r>
              <a:rPr sz="1300" b="0">
                <a:solidFill>
                  <a:srgbClr val="1E293B"/>
                </a:solidFill>
                <a:latin typeface="Calibri"/>
              </a:rPr>
              <a:t>  ›  Integrate Groq AI for fast responses</a:t>
            </a:r>
          </a:p>
        </p:txBody>
      </p:sp>
      <p:sp>
        <p:nvSpPr>
          <p:cNvPr id="10" name="Rectangle 9"/>
          <p:cNvSpPr/>
          <p:nvPr/>
        </p:nvSpPr>
        <p:spPr>
          <a:xfrm>
            <a:off x="6263640" y="1417320"/>
            <a:ext cx="54864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256032" cy="5120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508760"/>
            <a:ext cx="4937760" cy="457200"/>
          </a:xfrm>
          <a:prstGeom prst="rect">
            <a:avLst/>
          </a:prstGeom>
          <a:noFill/>
        </p:spPr>
        <p:txBody>
          <a:bodyPr wrap="square">
            <a:spAutoFit/>
          </a:bodyPr>
          <a:lstStyle/>
          <a:p>
            <a:pPr algn="l"/>
            <a:r>
              <a:rPr sz="1400" b="1" i="0">
                <a:solidFill>
                  <a:srgbClr val="057A55"/>
                </a:solidFill>
                <a:latin typeface="Calibri"/>
              </a:rPr>
              <a:t>🔧  Secondary Objectives</a:t>
            </a:r>
          </a:p>
        </p:txBody>
      </p:sp>
      <p:sp>
        <p:nvSpPr>
          <p:cNvPr id="13" name="TextBox 12"/>
          <p:cNvSpPr txBox="1"/>
          <p:nvPr/>
        </p:nvSpPr>
        <p:spPr>
          <a:xfrm>
            <a:off x="6675120" y="2057400"/>
            <a:ext cx="4937760" cy="4206240"/>
          </a:xfrm>
          <a:prstGeom prst="rect">
            <a:avLst/>
          </a:prstGeom>
          <a:noFill/>
        </p:spPr>
        <p:txBody>
          <a:bodyPr wrap="square">
            <a:spAutoFit/>
          </a:bodyPr>
          <a:lstStyle/>
          <a:p>
            <a:pPr algn="l">
              <a:spcBef>
                <a:spcPts val="300"/>
              </a:spcBef>
            </a:pPr>
            <a:r>
              <a:rPr sz="1300" b="0">
                <a:solidFill>
                  <a:srgbClr val="1E293B"/>
                </a:solidFill>
                <a:latin typeface="Calibri"/>
              </a:rPr>
              <a:t>  ›  Enable voice input interaction</a:t>
            </a:r>
          </a:p>
          <a:p>
            <a:pPr algn="l">
              <a:spcBef>
                <a:spcPts val="300"/>
              </a:spcBef>
            </a:pPr>
            <a:r>
              <a:rPr sz="1300" b="0">
                <a:solidFill>
                  <a:srgbClr val="1E293B"/>
                </a:solidFill>
                <a:latin typeface="Calibri"/>
              </a:rPr>
              <a:t>  ›  Support PDF document analysis</a:t>
            </a:r>
          </a:p>
          <a:p>
            <a:pPr algn="l">
              <a:spcBef>
                <a:spcPts val="300"/>
              </a:spcBef>
            </a:pPr>
            <a:r>
              <a:rPr sz="1300" b="0">
                <a:solidFill>
                  <a:srgbClr val="1E293B"/>
                </a:solidFill>
                <a:latin typeface="Calibri"/>
              </a:rPr>
              <a:t>  ›  Create an intuitive modern UI</a:t>
            </a:r>
          </a:p>
          <a:p>
            <a:pPr algn="l">
              <a:spcBef>
                <a:spcPts val="300"/>
              </a:spcBef>
            </a:pPr>
            <a:r>
              <a:rPr sz="1300" b="0">
                <a:solidFill>
                  <a:srgbClr val="1E293B"/>
                </a:solidFill>
                <a:latin typeface="Calibri"/>
              </a:rPr>
              <a:t>  ›  Integrate text-to-speech output</a:t>
            </a:r>
          </a:p>
          <a:p>
            <a:pPr algn="l">
              <a:spcBef>
                <a:spcPts val="300"/>
              </a:spcBef>
            </a:pPr>
            <a:r>
              <a:rPr sz="1300" b="0">
                <a:solidFill>
                  <a:srgbClr val="1E293B"/>
                </a:solidFill>
                <a:latin typeface="Calibri"/>
              </a:rPr>
              <a:t>  ›  Maintain persistent chat history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LITERATURE REVIEW</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Existing AI systems and research findings</a:t>
            </a:r>
          </a:p>
        </p:txBody>
      </p:sp>
      <p:sp>
        <p:nvSpPr>
          <p:cNvPr id="6" name="Rectangle 5"/>
          <p:cNvSpPr/>
          <p:nvPr/>
        </p:nvSpPr>
        <p:spPr>
          <a:xfrm>
            <a:off x="365760" y="1417320"/>
            <a:ext cx="5577840" cy="2240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22402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81912"/>
            <a:ext cx="4937760" cy="411480"/>
          </a:xfrm>
          <a:prstGeom prst="rect">
            <a:avLst/>
          </a:prstGeom>
          <a:noFill/>
        </p:spPr>
        <p:txBody>
          <a:bodyPr wrap="square">
            <a:spAutoFit/>
          </a:bodyPr>
          <a:lstStyle/>
          <a:p>
            <a:pPr algn="l"/>
            <a:r>
              <a:rPr sz="1500" b="1" i="0">
                <a:solidFill>
                  <a:srgbClr val="10B981"/>
                </a:solidFill>
                <a:latin typeface="Calibri"/>
              </a:rPr>
              <a:t>ChatGPT</a:t>
            </a:r>
          </a:p>
        </p:txBody>
      </p:sp>
      <p:sp>
        <p:nvSpPr>
          <p:cNvPr id="9" name="TextBox 8"/>
          <p:cNvSpPr txBox="1"/>
          <p:nvPr/>
        </p:nvSpPr>
        <p:spPr>
          <a:xfrm>
            <a:off x="777240" y="2011680"/>
            <a:ext cx="4937760" cy="457200"/>
          </a:xfrm>
          <a:prstGeom prst="rect">
            <a:avLst/>
          </a:prstGeom>
          <a:noFill/>
        </p:spPr>
        <p:txBody>
          <a:bodyPr wrap="square">
            <a:spAutoFit/>
          </a:bodyPr>
          <a:lstStyle/>
          <a:p>
            <a:pPr algn="l"/>
            <a:r>
              <a:rPr sz="1300" b="0" i="0">
                <a:solidFill>
                  <a:srgbClr val="F1F5F9"/>
                </a:solidFill>
                <a:latin typeface="Calibri"/>
              </a:rPr>
              <a:t>Conversational AI by OpenAI — most widely used LLM</a:t>
            </a:r>
          </a:p>
        </p:txBody>
      </p:sp>
      <p:sp>
        <p:nvSpPr>
          <p:cNvPr id="10" name="TextBox 9"/>
          <p:cNvSpPr txBox="1"/>
          <p:nvPr/>
        </p:nvSpPr>
        <p:spPr>
          <a:xfrm>
            <a:off x="777240" y="2496312"/>
            <a:ext cx="4937760" cy="868680"/>
          </a:xfrm>
          <a:prstGeom prst="rect">
            <a:avLst/>
          </a:prstGeom>
          <a:noFill/>
        </p:spPr>
        <p:txBody>
          <a:bodyPr wrap="square">
            <a:spAutoFit/>
          </a:bodyPr>
          <a:lstStyle/>
          <a:p>
            <a:pPr algn="l"/>
            <a:r>
              <a:rPr sz="1100" b="0" i="0">
                <a:solidFill>
                  <a:srgbClr val="94A3B8"/>
                </a:solidFill>
                <a:latin typeface="Calibri"/>
              </a:rPr>
              <a:t>Research shows: AI systems increase engagement, improve retention &amp; support independent learning.</a:t>
            </a:r>
          </a:p>
        </p:txBody>
      </p:sp>
      <p:sp>
        <p:nvSpPr>
          <p:cNvPr id="11" name="Rectangle 10"/>
          <p:cNvSpPr/>
          <p:nvPr/>
        </p:nvSpPr>
        <p:spPr>
          <a:xfrm>
            <a:off x="6263640" y="1417320"/>
            <a:ext cx="5577840" cy="2240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417320"/>
            <a:ext cx="256032" cy="22402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581912"/>
            <a:ext cx="4937760" cy="411480"/>
          </a:xfrm>
          <a:prstGeom prst="rect">
            <a:avLst/>
          </a:prstGeom>
          <a:noFill/>
        </p:spPr>
        <p:txBody>
          <a:bodyPr wrap="square">
            <a:spAutoFit/>
          </a:bodyPr>
          <a:lstStyle/>
          <a:p>
            <a:pPr algn="l"/>
            <a:r>
              <a:rPr sz="1500" b="1" i="0">
                <a:solidFill>
                  <a:srgbClr val="1E40AF"/>
                </a:solidFill>
                <a:latin typeface="Calibri"/>
              </a:rPr>
              <a:t>Google Gemini</a:t>
            </a:r>
          </a:p>
        </p:txBody>
      </p:sp>
      <p:sp>
        <p:nvSpPr>
          <p:cNvPr id="14" name="TextBox 13"/>
          <p:cNvSpPr txBox="1"/>
          <p:nvPr/>
        </p:nvSpPr>
        <p:spPr>
          <a:xfrm>
            <a:off x="6675120" y="2011680"/>
            <a:ext cx="4937760" cy="457200"/>
          </a:xfrm>
          <a:prstGeom prst="rect">
            <a:avLst/>
          </a:prstGeom>
          <a:noFill/>
        </p:spPr>
        <p:txBody>
          <a:bodyPr wrap="square">
            <a:spAutoFit/>
          </a:bodyPr>
          <a:lstStyle/>
          <a:p>
            <a:pPr algn="l"/>
            <a:r>
              <a:rPr sz="1300" b="0" i="0">
                <a:solidFill>
                  <a:srgbClr val="F1F5F9"/>
                </a:solidFill>
                <a:latin typeface="Calibri"/>
              </a:rPr>
              <a:t>Google's multimodal AI with deep search integration</a:t>
            </a:r>
          </a:p>
        </p:txBody>
      </p:sp>
      <p:sp>
        <p:nvSpPr>
          <p:cNvPr id="15" name="TextBox 14"/>
          <p:cNvSpPr txBox="1"/>
          <p:nvPr/>
        </p:nvSpPr>
        <p:spPr>
          <a:xfrm>
            <a:off x="6675120" y="2496312"/>
            <a:ext cx="4937760" cy="868680"/>
          </a:xfrm>
          <a:prstGeom prst="rect">
            <a:avLst/>
          </a:prstGeom>
          <a:noFill/>
        </p:spPr>
        <p:txBody>
          <a:bodyPr wrap="square">
            <a:spAutoFit/>
          </a:bodyPr>
          <a:lstStyle/>
          <a:p>
            <a:pPr algn="l"/>
            <a:r>
              <a:rPr sz="1100" b="0" i="0">
                <a:solidFill>
                  <a:srgbClr val="94A3B8"/>
                </a:solidFill>
                <a:latin typeface="Calibri"/>
              </a:rPr>
              <a:t>Research shows: AI systems increase engagement, improve retention &amp; support independent learning.</a:t>
            </a:r>
          </a:p>
        </p:txBody>
      </p:sp>
      <p:sp>
        <p:nvSpPr>
          <p:cNvPr id="16" name="Rectangle 15"/>
          <p:cNvSpPr/>
          <p:nvPr/>
        </p:nvSpPr>
        <p:spPr>
          <a:xfrm>
            <a:off x="365760" y="3931920"/>
            <a:ext cx="5577840" cy="2240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931920"/>
            <a:ext cx="256032" cy="22402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96511"/>
            <a:ext cx="4937760" cy="411480"/>
          </a:xfrm>
          <a:prstGeom prst="rect">
            <a:avLst/>
          </a:prstGeom>
          <a:noFill/>
        </p:spPr>
        <p:txBody>
          <a:bodyPr wrap="square">
            <a:spAutoFit/>
          </a:bodyPr>
          <a:lstStyle/>
          <a:p>
            <a:pPr algn="l"/>
            <a:r>
              <a:rPr sz="1500" b="1" i="0">
                <a:solidFill>
                  <a:srgbClr val="06B6D4"/>
                </a:solidFill>
                <a:latin typeface="Calibri"/>
              </a:rPr>
              <a:t>Microsoft Copilot</a:t>
            </a:r>
          </a:p>
        </p:txBody>
      </p:sp>
      <p:sp>
        <p:nvSpPr>
          <p:cNvPr id="19" name="TextBox 18"/>
          <p:cNvSpPr txBox="1"/>
          <p:nvPr/>
        </p:nvSpPr>
        <p:spPr>
          <a:xfrm>
            <a:off x="777240" y="4526280"/>
            <a:ext cx="4937760" cy="457200"/>
          </a:xfrm>
          <a:prstGeom prst="rect">
            <a:avLst/>
          </a:prstGeom>
          <a:noFill/>
        </p:spPr>
        <p:txBody>
          <a:bodyPr wrap="square">
            <a:spAutoFit/>
          </a:bodyPr>
          <a:lstStyle/>
          <a:p>
            <a:pPr algn="l"/>
            <a:r>
              <a:rPr sz="1300" b="0" i="0">
                <a:solidFill>
                  <a:srgbClr val="F1F5F9"/>
                </a:solidFill>
                <a:latin typeface="Calibri"/>
              </a:rPr>
              <a:t>AI assistant embedded in Office 365 productivity tools</a:t>
            </a:r>
          </a:p>
        </p:txBody>
      </p:sp>
      <p:sp>
        <p:nvSpPr>
          <p:cNvPr id="20" name="TextBox 19"/>
          <p:cNvSpPr txBox="1"/>
          <p:nvPr/>
        </p:nvSpPr>
        <p:spPr>
          <a:xfrm>
            <a:off x="777240" y="5010912"/>
            <a:ext cx="4937760" cy="868680"/>
          </a:xfrm>
          <a:prstGeom prst="rect">
            <a:avLst/>
          </a:prstGeom>
          <a:noFill/>
        </p:spPr>
        <p:txBody>
          <a:bodyPr wrap="square">
            <a:spAutoFit/>
          </a:bodyPr>
          <a:lstStyle/>
          <a:p>
            <a:pPr algn="l"/>
            <a:r>
              <a:rPr sz="1100" b="0" i="0">
                <a:solidFill>
                  <a:srgbClr val="94A3B8"/>
                </a:solidFill>
                <a:latin typeface="Calibri"/>
              </a:rPr>
              <a:t>Research shows: AI systems increase engagement, improve retention &amp; support independent learning.</a:t>
            </a:r>
          </a:p>
        </p:txBody>
      </p:sp>
      <p:sp>
        <p:nvSpPr>
          <p:cNvPr id="21" name="Rectangle 20"/>
          <p:cNvSpPr/>
          <p:nvPr/>
        </p:nvSpPr>
        <p:spPr>
          <a:xfrm>
            <a:off x="6263640" y="3931920"/>
            <a:ext cx="5577840" cy="2240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931920"/>
            <a:ext cx="256032" cy="2240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4096511"/>
            <a:ext cx="4937760" cy="411480"/>
          </a:xfrm>
          <a:prstGeom prst="rect">
            <a:avLst/>
          </a:prstGeom>
          <a:noFill/>
        </p:spPr>
        <p:txBody>
          <a:bodyPr wrap="square">
            <a:spAutoFit/>
          </a:bodyPr>
          <a:lstStyle/>
          <a:p>
            <a:pPr algn="l"/>
            <a:r>
              <a:rPr sz="1500" b="1" i="0">
                <a:solidFill>
                  <a:srgbClr val="F59E0B"/>
                </a:solidFill>
                <a:latin typeface="Calibri"/>
              </a:rPr>
              <a:t>Khan Academy AI</a:t>
            </a:r>
          </a:p>
        </p:txBody>
      </p:sp>
      <p:sp>
        <p:nvSpPr>
          <p:cNvPr id="24" name="TextBox 23"/>
          <p:cNvSpPr txBox="1"/>
          <p:nvPr/>
        </p:nvSpPr>
        <p:spPr>
          <a:xfrm>
            <a:off x="6675120" y="4526280"/>
            <a:ext cx="4937760" cy="457200"/>
          </a:xfrm>
          <a:prstGeom prst="rect">
            <a:avLst/>
          </a:prstGeom>
          <a:noFill/>
        </p:spPr>
        <p:txBody>
          <a:bodyPr wrap="square">
            <a:spAutoFit/>
          </a:bodyPr>
          <a:lstStyle/>
          <a:p>
            <a:pPr algn="l"/>
            <a:r>
              <a:rPr sz="1300" b="0" i="0">
                <a:solidFill>
                  <a:srgbClr val="F1F5F9"/>
                </a:solidFill>
                <a:latin typeface="Calibri"/>
              </a:rPr>
              <a:t>Personalized AI tutor for K-12 and university students</a:t>
            </a:r>
          </a:p>
        </p:txBody>
      </p:sp>
      <p:sp>
        <p:nvSpPr>
          <p:cNvPr id="25" name="TextBox 24"/>
          <p:cNvSpPr txBox="1"/>
          <p:nvPr/>
        </p:nvSpPr>
        <p:spPr>
          <a:xfrm>
            <a:off x="6675120" y="5010912"/>
            <a:ext cx="4937760" cy="868680"/>
          </a:xfrm>
          <a:prstGeom prst="rect">
            <a:avLst/>
          </a:prstGeom>
          <a:noFill/>
        </p:spPr>
        <p:txBody>
          <a:bodyPr wrap="square">
            <a:spAutoFit/>
          </a:bodyPr>
          <a:lstStyle/>
          <a:p>
            <a:pPr algn="l"/>
            <a:r>
              <a:rPr sz="1100" b="0" i="0">
                <a:solidFill>
                  <a:srgbClr val="94A3B8"/>
                </a:solidFill>
                <a:latin typeface="Calibri"/>
              </a:rPr>
              <a:t>Research shows: AI systems increase engagement, improve retention &amp; support independent learning.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PROPOSED SYSTEM</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Aura AI — Desktop Study Assistant</a:t>
            </a:r>
          </a:p>
        </p:txBody>
      </p:sp>
      <p:sp>
        <p:nvSpPr>
          <p:cNvPr id="6" name="Rectangle 5"/>
          <p:cNvSpPr/>
          <p:nvPr/>
        </p:nvSpPr>
        <p:spPr>
          <a:xfrm>
            <a:off x="365760" y="1417320"/>
            <a:ext cx="114300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10972800" cy="731520"/>
          </a:xfrm>
          <a:prstGeom prst="rect">
            <a:avLst/>
          </a:prstGeom>
          <a:noFill/>
        </p:spPr>
        <p:txBody>
          <a:bodyPr wrap="square">
            <a:spAutoFit/>
          </a:bodyPr>
          <a:lstStyle/>
          <a:p>
            <a:pPr algn="l"/>
            <a:r>
              <a:rPr sz="1300" b="0" i="0">
                <a:solidFill>
                  <a:srgbClr val="1E293B"/>
                </a:solidFill>
                <a:latin typeface="Calibri"/>
              </a:rPr>
              <a:t>The AI Study Assistant is a desktop application integrating multiple intelligent functionalities into a single platform, acting as a virtual academic assistant.</a:t>
            </a:r>
          </a:p>
        </p:txBody>
      </p:sp>
      <p:sp>
        <p:nvSpPr>
          <p:cNvPr id="8" name="Rectangle 7"/>
          <p:cNvSpPr/>
          <p:nvPr/>
        </p:nvSpPr>
        <p:spPr>
          <a:xfrm>
            <a:off x="365760" y="2514600"/>
            <a:ext cx="361188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514600"/>
            <a:ext cx="3611880" cy="4572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569464"/>
            <a:ext cx="3337560" cy="384048"/>
          </a:xfrm>
          <a:prstGeom prst="rect">
            <a:avLst/>
          </a:prstGeom>
          <a:noFill/>
        </p:spPr>
        <p:txBody>
          <a:bodyPr wrap="square">
            <a:spAutoFit/>
          </a:bodyPr>
          <a:lstStyle/>
          <a:p>
            <a:pPr algn="l"/>
            <a:r>
              <a:rPr sz="1300" b="1" i="0">
                <a:solidFill>
                  <a:srgbClr val="FFFFFF"/>
                </a:solidFill>
                <a:latin typeface="Calibri"/>
              </a:rPr>
              <a:t>🖥 User Interface Module</a:t>
            </a:r>
          </a:p>
        </p:txBody>
      </p:sp>
      <p:sp>
        <p:nvSpPr>
          <p:cNvPr id="11" name="TextBox 10"/>
          <p:cNvSpPr txBox="1"/>
          <p:nvPr/>
        </p:nvSpPr>
        <p:spPr>
          <a:xfrm>
            <a:off x="502920" y="3108960"/>
            <a:ext cx="3337560" cy="914400"/>
          </a:xfrm>
          <a:prstGeom prst="rect">
            <a:avLst/>
          </a:prstGeom>
          <a:noFill/>
        </p:spPr>
        <p:txBody>
          <a:bodyPr wrap="square">
            <a:spAutoFit/>
          </a:bodyPr>
          <a:lstStyle/>
          <a:p>
            <a:pPr algn="l"/>
            <a:r>
              <a:rPr sz="1200" b="0" i="0">
                <a:solidFill>
                  <a:srgbClr val="1E293B"/>
                </a:solidFill>
                <a:latin typeface="Calibri"/>
              </a:rPr>
              <a:t>CustomTkinter modern GUI</a:t>
            </a:r>
          </a:p>
        </p:txBody>
      </p:sp>
      <p:sp>
        <p:nvSpPr>
          <p:cNvPr id="12" name="Rectangle 11"/>
          <p:cNvSpPr/>
          <p:nvPr/>
        </p:nvSpPr>
        <p:spPr>
          <a:xfrm>
            <a:off x="4297680" y="2514600"/>
            <a:ext cx="361188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2514600"/>
            <a:ext cx="3611880" cy="4572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569464"/>
            <a:ext cx="3337560" cy="384048"/>
          </a:xfrm>
          <a:prstGeom prst="rect">
            <a:avLst/>
          </a:prstGeom>
          <a:noFill/>
        </p:spPr>
        <p:txBody>
          <a:bodyPr wrap="square">
            <a:spAutoFit/>
          </a:bodyPr>
          <a:lstStyle/>
          <a:p>
            <a:pPr algn="l"/>
            <a:r>
              <a:rPr sz="1300" b="1" i="0">
                <a:solidFill>
                  <a:srgbClr val="FFFFFF"/>
                </a:solidFill>
                <a:latin typeface="Calibri"/>
              </a:rPr>
              <a:t>🧠 AI Processing Module</a:t>
            </a:r>
          </a:p>
        </p:txBody>
      </p:sp>
      <p:sp>
        <p:nvSpPr>
          <p:cNvPr id="15" name="TextBox 14"/>
          <p:cNvSpPr txBox="1"/>
          <p:nvPr/>
        </p:nvSpPr>
        <p:spPr>
          <a:xfrm>
            <a:off x="4434840" y="3108960"/>
            <a:ext cx="3337560" cy="914400"/>
          </a:xfrm>
          <a:prstGeom prst="rect">
            <a:avLst/>
          </a:prstGeom>
          <a:noFill/>
        </p:spPr>
        <p:txBody>
          <a:bodyPr wrap="square">
            <a:spAutoFit/>
          </a:bodyPr>
          <a:lstStyle/>
          <a:p>
            <a:pPr algn="l"/>
            <a:r>
              <a:rPr sz="1200" b="0" i="0">
                <a:solidFill>
                  <a:srgbClr val="1E293B"/>
                </a:solidFill>
                <a:latin typeface="Calibri"/>
              </a:rPr>
              <a:t>Groq API + Llama-3.3-70B</a:t>
            </a:r>
          </a:p>
        </p:txBody>
      </p:sp>
      <p:sp>
        <p:nvSpPr>
          <p:cNvPr id="16" name="Rectangle 15"/>
          <p:cNvSpPr/>
          <p:nvPr/>
        </p:nvSpPr>
        <p:spPr>
          <a:xfrm>
            <a:off x="8229600" y="2514600"/>
            <a:ext cx="361188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514600"/>
            <a:ext cx="361188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2569464"/>
            <a:ext cx="3337560" cy="384048"/>
          </a:xfrm>
          <a:prstGeom prst="rect">
            <a:avLst/>
          </a:prstGeom>
          <a:noFill/>
        </p:spPr>
        <p:txBody>
          <a:bodyPr wrap="square">
            <a:spAutoFit/>
          </a:bodyPr>
          <a:lstStyle/>
          <a:p>
            <a:pPr algn="l"/>
            <a:r>
              <a:rPr sz="1300" b="1" i="0">
                <a:solidFill>
                  <a:srgbClr val="FFFFFF"/>
                </a:solidFill>
                <a:latin typeface="Calibri"/>
              </a:rPr>
              <a:t>🎤 Speech Recognition</a:t>
            </a:r>
          </a:p>
        </p:txBody>
      </p:sp>
      <p:sp>
        <p:nvSpPr>
          <p:cNvPr id="19" name="TextBox 18"/>
          <p:cNvSpPr txBox="1"/>
          <p:nvPr/>
        </p:nvSpPr>
        <p:spPr>
          <a:xfrm>
            <a:off x="8366760" y="3108960"/>
            <a:ext cx="3337560" cy="914400"/>
          </a:xfrm>
          <a:prstGeom prst="rect">
            <a:avLst/>
          </a:prstGeom>
          <a:noFill/>
        </p:spPr>
        <p:txBody>
          <a:bodyPr wrap="square">
            <a:spAutoFit/>
          </a:bodyPr>
          <a:lstStyle/>
          <a:p>
            <a:pPr algn="l"/>
            <a:r>
              <a:rPr sz="1200" b="0" i="0">
                <a:solidFill>
                  <a:srgbClr val="1E293B"/>
                </a:solidFill>
                <a:latin typeface="Calibri"/>
              </a:rPr>
              <a:t>Google Speech API</a:t>
            </a:r>
          </a:p>
        </p:txBody>
      </p:sp>
      <p:sp>
        <p:nvSpPr>
          <p:cNvPr id="20" name="Rectangle 19"/>
          <p:cNvSpPr/>
          <p:nvPr/>
        </p:nvSpPr>
        <p:spPr>
          <a:xfrm>
            <a:off x="365760" y="4480560"/>
            <a:ext cx="361188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480560"/>
            <a:ext cx="361188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535424"/>
            <a:ext cx="3337560" cy="384048"/>
          </a:xfrm>
          <a:prstGeom prst="rect">
            <a:avLst/>
          </a:prstGeom>
          <a:noFill/>
        </p:spPr>
        <p:txBody>
          <a:bodyPr wrap="square">
            <a:spAutoFit/>
          </a:bodyPr>
          <a:lstStyle/>
          <a:p>
            <a:pPr algn="l"/>
            <a:r>
              <a:rPr sz="1300" b="1" i="0">
                <a:solidFill>
                  <a:srgbClr val="FFFFFF"/>
                </a:solidFill>
                <a:latin typeface="Calibri"/>
              </a:rPr>
              <a:t>🔊 Text-to-Speech Module</a:t>
            </a:r>
          </a:p>
        </p:txBody>
      </p:sp>
      <p:sp>
        <p:nvSpPr>
          <p:cNvPr id="23" name="TextBox 22"/>
          <p:cNvSpPr txBox="1"/>
          <p:nvPr/>
        </p:nvSpPr>
        <p:spPr>
          <a:xfrm>
            <a:off x="502920" y="5074920"/>
            <a:ext cx="3337560" cy="914400"/>
          </a:xfrm>
          <a:prstGeom prst="rect">
            <a:avLst/>
          </a:prstGeom>
          <a:noFill/>
        </p:spPr>
        <p:txBody>
          <a:bodyPr wrap="square">
            <a:spAutoFit/>
          </a:bodyPr>
          <a:lstStyle/>
          <a:p>
            <a:pPr algn="l"/>
            <a:r>
              <a:rPr sz="1200" b="0" i="0">
                <a:solidFill>
                  <a:srgbClr val="1E293B"/>
                </a:solidFill>
                <a:latin typeface="Calibri"/>
              </a:rPr>
              <a:t>pyttsx3 engine</a:t>
            </a:r>
          </a:p>
        </p:txBody>
      </p:sp>
      <p:sp>
        <p:nvSpPr>
          <p:cNvPr id="24" name="Rectangle 23"/>
          <p:cNvSpPr/>
          <p:nvPr/>
        </p:nvSpPr>
        <p:spPr>
          <a:xfrm>
            <a:off x="4297680" y="4480560"/>
            <a:ext cx="361188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480560"/>
            <a:ext cx="361188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4535424"/>
            <a:ext cx="3337560" cy="384048"/>
          </a:xfrm>
          <a:prstGeom prst="rect">
            <a:avLst/>
          </a:prstGeom>
          <a:noFill/>
        </p:spPr>
        <p:txBody>
          <a:bodyPr wrap="square">
            <a:spAutoFit/>
          </a:bodyPr>
          <a:lstStyle/>
          <a:p>
            <a:pPr algn="l"/>
            <a:r>
              <a:rPr sz="1300" b="1" i="0">
                <a:solidFill>
                  <a:srgbClr val="FFFFFF"/>
                </a:solidFill>
                <a:latin typeface="Calibri"/>
              </a:rPr>
              <a:t>📄 PDF Processing Module</a:t>
            </a:r>
          </a:p>
        </p:txBody>
      </p:sp>
      <p:sp>
        <p:nvSpPr>
          <p:cNvPr id="27" name="TextBox 26"/>
          <p:cNvSpPr txBox="1"/>
          <p:nvPr/>
        </p:nvSpPr>
        <p:spPr>
          <a:xfrm>
            <a:off x="4434840" y="5074920"/>
            <a:ext cx="3337560" cy="914400"/>
          </a:xfrm>
          <a:prstGeom prst="rect">
            <a:avLst/>
          </a:prstGeom>
          <a:noFill/>
        </p:spPr>
        <p:txBody>
          <a:bodyPr wrap="square">
            <a:spAutoFit/>
          </a:bodyPr>
          <a:lstStyle/>
          <a:p>
            <a:pPr algn="l"/>
            <a:r>
              <a:rPr sz="1200" b="0" i="0">
                <a:solidFill>
                  <a:srgbClr val="1E293B"/>
                </a:solidFill>
                <a:latin typeface="Calibri"/>
              </a:rPr>
              <a:t>pypdf text extraction</a:t>
            </a:r>
          </a:p>
        </p:txBody>
      </p:sp>
      <p:sp>
        <p:nvSpPr>
          <p:cNvPr id="28" name="Rectangle 27"/>
          <p:cNvSpPr/>
          <p:nvPr/>
        </p:nvSpPr>
        <p:spPr>
          <a:xfrm>
            <a:off x="8229600" y="4480560"/>
            <a:ext cx="361188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0" y="4480560"/>
            <a:ext cx="3611880" cy="457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4535424"/>
            <a:ext cx="3337560" cy="384048"/>
          </a:xfrm>
          <a:prstGeom prst="rect">
            <a:avLst/>
          </a:prstGeom>
          <a:noFill/>
        </p:spPr>
        <p:txBody>
          <a:bodyPr wrap="square">
            <a:spAutoFit/>
          </a:bodyPr>
          <a:lstStyle/>
          <a:p>
            <a:pPr algn="l"/>
            <a:r>
              <a:rPr sz="1300" b="1" i="0">
                <a:solidFill>
                  <a:srgbClr val="FFFFFF"/>
                </a:solidFill>
                <a:latin typeface="Calibri"/>
              </a:rPr>
              <a:t>💾 Session Management</a:t>
            </a:r>
          </a:p>
        </p:txBody>
      </p:sp>
      <p:sp>
        <p:nvSpPr>
          <p:cNvPr id="31" name="TextBox 30"/>
          <p:cNvSpPr txBox="1"/>
          <p:nvPr/>
        </p:nvSpPr>
        <p:spPr>
          <a:xfrm>
            <a:off x="8366760" y="5074920"/>
            <a:ext cx="3337560" cy="914400"/>
          </a:xfrm>
          <a:prstGeom prst="rect">
            <a:avLst/>
          </a:prstGeom>
          <a:noFill/>
        </p:spPr>
        <p:txBody>
          <a:bodyPr wrap="square">
            <a:spAutoFit/>
          </a:bodyPr>
          <a:lstStyle/>
          <a:p>
            <a:pPr algn="l"/>
            <a:r>
              <a:rPr sz="1200" b="0" i="0">
                <a:solidFill>
                  <a:srgbClr val="1E293B"/>
                </a:solidFill>
                <a:latin typeface="Calibri"/>
              </a:rPr>
              <a:t>JSON history storage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SYSTEM ARCHITECTURE</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End-to-end flow of the application</a:t>
            </a:r>
          </a:p>
        </p:txBody>
      </p:sp>
      <p:sp>
        <p:nvSpPr>
          <p:cNvPr id="6" name="Rectangle 5"/>
          <p:cNvSpPr/>
          <p:nvPr/>
        </p:nvSpPr>
        <p:spPr>
          <a:xfrm>
            <a:off x="365760" y="1417320"/>
            <a:ext cx="11430000" cy="7863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548640" cy="78638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81912"/>
            <a:ext cx="548640" cy="475488"/>
          </a:xfrm>
          <a:prstGeom prst="rect">
            <a:avLst/>
          </a:prstGeom>
          <a:noFill/>
        </p:spPr>
        <p:txBody>
          <a:bodyPr wrap="square">
            <a:spAutoFit/>
          </a:bodyPr>
          <a:lstStyle/>
          <a:p>
            <a:pPr algn="ctr"/>
            <a:r>
              <a:rPr sz="1600" b="1" i="0">
                <a:solidFill>
                  <a:srgbClr val="FFFFFF"/>
                </a:solidFill>
                <a:latin typeface="Calibri"/>
              </a:rPr>
              <a:t>1</a:t>
            </a:r>
          </a:p>
        </p:txBody>
      </p:sp>
      <p:sp>
        <p:nvSpPr>
          <p:cNvPr id="9" name="TextBox 8"/>
          <p:cNvSpPr txBox="1"/>
          <p:nvPr/>
        </p:nvSpPr>
        <p:spPr>
          <a:xfrm>
            <a:off x="1051560" y="1490472"/>
            <a:ext cx="3474720" cy="365760"/>
          </a:xfrm>
          <a:prstGeom prst="rect">
            <a:avLst/>
          </a:prstGeom>
          <a:noFill/>
        </p:spPr>
        <p:txBody>
          <a:bodyPr wrap="square">
            <a:spAutoFit/>
          </a:bodyPr>
          <a:lstStyle/>
          <a:p>
            <a:pPr algn="l"/>
            <a:r>
              <a:rPr sz="1300" b="1" i="0">
                <a:solidFill>
                  <a:srgbClr val="06B6D4"/>
                </a:solidFill>
                <a:latin typeface="Calibri"/>
              </a:rPr>
              <a:t>User Input</a:t>
            </a:r>
          </a:p>
        </p:txBody>
      </p:sp>
      <p:sp>
        <p:nvSpPr>
          <p:cNvPr id="10" name="TextBox 9"/>
          <p:cNvSpPr txBox="1"/>
          <p:nvPr/>
        </p:nvSpPr>
        <p:spPr>
          <a:xfrm>
            <a:off x="1051560" y="1856232"/>
            <a:ext cx="10058400" cy="320040"/>
          </a:xfrm>
          <a:prstGeom prst="rect">
            <a:avLst/>
          </a:prstGeom>
          <a:noFill/>
        </p:spPr>
        <p:txBody>
          <a:bodyPr wrap="square">
            <a:spAutoFit/>
          </a:bodyPr>
          <a:lstStyle/>
          <a:p>
            <a:pPr algn="l"/>
            <a:r>
              <a:rPr sz="1100" b="0" i="0">
                <a:solidFill>
                  <a:srgbClr val="94A3B8"/>
                </a:solidFill>
                <a:latin typeface="Calibri"/>
              </a:rPr>
              <a:t>Text Typing  /  Voice Mic  /  PDF Upload</a:t>
            </a:r>
          </a:p>
        </p:txBody>
      </p:sp>
      <p:sp>
        <p:nvSpPr>
          <p:cNvPr id="11" name="Rectangle 10"/>
          <p:cNvSpPr/>
          <p:nvPr/>
        </p:nvSpPr>
        <p:spPr>
          <a:xfrm>
            <a:off x="5943600" y="2203704"/>
            <a:ext cx="274320"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313432"/>
            <a:ext cx="11430000" cy="7863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313432"/>
            <a:ext cx="548640" cy="786384"/>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478024"/>
            <a:ext cx="548640" cy="475488"/>
          </a:xfrm>
          <a:prstGeom prst="rect">
            <a:avLst/>
          </a:prstGeom>
          <a:noFill/>
        </p:spPr>
        <p:txBody>
          <a:bodyPr wrap="square">
            <a:spAutoFit/>
          </a:bodyPr>
          <a:lstStyle/>
          <a:p>
            <a:pPr algn="ctr"/>
            <a:r>
              <a:rPr sz="1600" b="1" i="0">
                <a:solidFill>
                  <a:srgbClr val="FFFFFF"/>
                </a:solidFill>
                <a:latin typeface="Calibri"/>
              </a:rPr>
              <a:t>2</a:t>
            </a:r>
          </a:p>
        </p:txBody>
      </p:sp>
      <p:sp>
        <p:nvSpPr>
          <p:cNvPr id="15" name="TextBox 14"/>
          <p:cNvSpPr txBox="1"/>
          <p:nvPr/>
        </p:nvSpPr>
        <p:spPr>
          <a:xfrm>
            <a:off x="1051560" y="2386584"/>
            <a:ext cx="3474720" cy="365760"/>
          </a:xfrm>
          <a:prstGeom prst="rect">
            <a:avLst/>
          </a:prstGeom>
          <a:noFill/>
        </p:spPr>
        <p:txBody>
          <a:bodyPr wrap="square">
            <a:spAutoFit/>
          </a:bodyPr>
          <a:lstStyle/>
          <a:p>
            <a:pPr algn="l"/>
            <a:r>
              <a:rPr sz="1300" b="1" i="0">
                <a:solidFill>
                  <a:srgbClr val="1E40AF"/>
                </a:solidFill>
                <a:latin typeface="Calibri"/>
              </a:rPr>
              <a:t>Graphical User Interface</a:t>
            </a:r>
          </a:p>
        </p:txBody>
      </p:sp>
      <p:sp>
        <p:nvSpPr>
          <p:cNvPr id="16" name="TextBox 15"/>
          <p:cNvSpPr txBox="1"/>
          <p:nvPr/>
        </p:nvSpPr>
        <p:spPr>
          <a:xfrm>
            <a:off x="1051560" y="2752344"/>
            <a:ext cx="10058400" cy="320040"/>
          </a:xfrm>
          <a:prstGeom prst="rect">
            <a:avLst/>
          </a:prstGeom>
          <a:noFill/>
        </p:spPr>
        <p:txBody>
          <a:bodyPr wrap="square">
            <a:spAutoFit/>
          </a:bodyPr>
          <a:lstStyle/>
          <a:p>
            <a:pPr algn="l"/>
            <a:r>
              <a:rPr sz="1100" b="0" i="0">
                <a:solidFill>
                  <a:srgbClr val="94A3B8"/>
                </a:solidFill>
                <a:latin typeface="Calibri"/>
              </a:rPr>
              <a:t>CustomTkinter Window  —  Chat Bubbles  —  Mode Chips</a:t>
            </a:r>
          </a:p>
        </p:txBody>
      </p:sp>
      <p:sp>
        <p:nvSpPr>
          <p:cNvPr id="17" name="Rectangle 16"/>
          <p:cNvSpPr/>
          <p:nvPr/>
        </p:nvSpPr>
        <p:spPr>
          <a:xfrm>
            <a:off x="5943600" y="3099816"/>
            <a:ext cx="274320" cy="10972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209544"/>
            <a:ext cx="11430000" cy="7863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209544"/>
            <a:ext cx="548640" cy="7863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374136"/>
            <a:ext cx="548640" cy="475488"/>
          </a:xfrm>
          <a:prstGeom prst="rect">
            <a:avLst/>
          </a:prstGeom>
          <a:noFill/>
        </p:spPr>
        <p:txBody>
          <a:bodyPr wrap="square">
            <a:spAutoFit/>
          </a:bodyPr>
          <a:lstStyle/>
          <a:p>
            <a:pPr algn="ctr"/>
            <a:r>
              <a:rPr sz="1600" b="1" i="0">
                <a:solidFill>
                  <a:srgbClr val="FFFFFF"/>
                </a:solidFill>
                <a:latin typeface="Calibri"/>
              </a:rPr>
              <a:t>3</a:t>
            </a:r>
          </a:p>
        </p:txBody>
      </p:sp>
      <p:sp>
        <p:nvSpPr>
          <p:cNvPr id="21" name="TextBox 20"/>
          <p:cNvSpPr txBox="1"/>
          <p:nvPr/>
        </p:nvSpPr>
        <p:spPr>
          <a:xfrm>
            <a:off x="1051560" y="3282696"/>
            <a:ext cx="3474720" cy="365760"/>
          </a:xfrm>
          <a:prstGeom prst="rect">
            <a:avLst/>
          </a:prstGeom>
          <a:noFill/>
        </p:spPr>
        <p:txBody>
          <a:bodyPr wrap="square">
            <a:spAutoFit/>
          </a:bodyPr>
          <a:lstStyle/>
          <a:p>
            <a:pPr algn="l"/>
            <a:r>
              <a:rPr sz="1300" b="1" i="0">
                <a:solidFill>
                  <a:srgbClr val="10B981"/>
                </a:solidFill>
                <a:latin typeface="Calibri"/>
              </a:rPr>
              <a:t>Input Processing Layer</a:t>
            </a:r>
          </a:p>
        </p:txBody>
      </p:sp>
      <p:sp>
        <p:nvSpPr>
          <p:cNvPr id="22" name="TextBox 21"/>
          <p:cNvSpPr txBox="1"/>
          <p:nvPr/>
        </p:nvSpPr>
        <p:spPr>
          <a:xfrm>
            <a:off x="1051560" y="3648456"/>
            <a:ext cx="10058400" cy="320040"/>
          </a:xfrm>
          <a:prstGeom prst="rect">
            <a:avLst/>
          </a:prstGeom>
          <a:noFill/>
        </p:spPr>
        <p:txBody>
          <a:bodyPr wrap="square">
            <a:spAutoFit/>
          </a:bodyPr>
          <a:lstStyle/>
          <a:p>
            <a:pPr algn="l"/>
            <a:r>
              <a:rPr sz="1100" b="0" i="0">
                <a:solidFill>
                  <a:srgbClr val="94A3B8"/>
                </a:solidFill>
                <a:latin typeface="Calibri"/>
              </a:rPr>
              <a:t>Query Manager  —  Thread Handler  —  Context Builder</a:t>
            </a:r>
          </a:p>
        </p:txBody>
      </p:sp>
      <p:sp>
        <p:nvSpPr>
          <p:cNvPr id="23" name="Rectangle 22"/>
          <p:cNvSpPr/>
          <p:nvPr/>
        </p:nvSpPr>
        <p:spPr>
          <a:xfrm>
            <a:off x="5943600" y="3995928"/>
            <a:ext cx="27432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105656"/>
            <a:ext cx="11430000" cy="7863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105656"/>
            <a:ext cx="548640" cy="78638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270248"/>
            <a:ext cx="548640" cy="475488"/>
          </a:xfrm>
          <a:prstGeom prst="rect">
            <a:avLst/>
          </a:prstGeom>
          <a:noFill/>
        </p:spPr>
        <p:txBody>
          <a:bodyPr wrap="square">
            <a:spAutoFit/>
          </a:bodyPr>
          <a:lstStyle/>
          <a:p>
            <a:pPr algn="ctr"/>
            <a:r>
              <a:rPr sz="1600" b="1" i="0">
                <a:solidFill>
                  <a:srgbClr val="FFFFFF"/>
                </a:solidFill>
                <a:latin typeface="Calibri"/>
              </a:rPr>
              <a:t>4</a:t>
            </a:r>
          </a:p>
        </p:txBody>
      </p:sp>
      <p:sp>
        <p:nvSpPr>
          <p:cNvPr id="27" name="TextBox 26"/>
          <p:cNvSpPr txBox="1"/>
          <p:nvPr/>
        </p:nvSpPr>
        <p:spPr>
          <a:xfrm>
            <a:off x="1051560" y="4178808"/>
            <a:ext cx="3474720" cy="365760"/>
          </a:xfrm>
          <a:prstGeom prst="rect">
            <a:avLst/>
          </a:prstGeom>
          <a:noFill/>
        </p:spPr>
        <p:txBody>
          <a:bodyPr wrap="square">
            <a:spAutoFit/>
          </a:bodyPr>
          <a:lstStyle/>
          <a:p>
            <a:pPr algn="l"/>
            <a:r>
              <a:rPr sz="1300" b="1" i="0">
                <a:solidFill>
                  <a:srgbClr val="F59E0B"/>
                </a:solidFill>
                <a:latin typeface="Calibri"/>
              </a:rPr>
              <a:t>AI Engine (Groq API)</a:t>
            </a:r>
          </a:p>
        </p:txBody>
      </p:sp>
      <p:sp>
        <p:nvSpPr>
          <p:cNvPr id="28" name="TextBox 27"/>
          <p:cNvSpPr txBox="1"/>
          <p:nvPr/>
        </p:nvSpPr>
        <p:spPr>
          <a:xfrm>
            <a:off x="1051560" y="4544568"/>
            <a:ext cx="10058400" cy="320040"/>
          </a:xfrm>
          <a:prstGeom prst="rect">
            <a:avLst/>
          </a:prstGeom>
          <a:noFill/>
        </p:spPr>
        <p:txBody>
          <a:bodyPr wrap="square">
            <a:spAutoFit/>
          </a:bodyPr>
          <a:lstStyle/>
          <a:p>
            <a:pPr algn="l"/>
            <a:r>
              <a:rPr sz="1100" b="0" i="0">
                <a:solidFill>
                  <a:srgbClr val="94A3B8"/>
                </a:solidFill>
                <a:latin typeface="Calibri"/>
              </a:rPr>
              <a:t>Llama-3.3-70B  —  System Prompt  —  Response Generation</a:t>
            </a:r>
          </a:p>
        </p:txBody>
      </p:sp>
      <p:sp>
        <p:nvSpPr>
          <p:cNvPr id="29" name="Rectangle 28"/>
          <p:cNvSpPr/>
          <p:nvPr/>
        </p:nvSpPr>
        <p:spPr>
          <a:xfrm>
            <a:off x="5943600" y="4892040"/>
            <a:ext cx="27432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001768"/>
            <a:ext cx="11430000" cy="7863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5001768"/>
            <a:ext cx="548640" cy="7863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166359"/>
            <a:ext cx="548640" cy="475488"/>
          </a:xfrm>
          <a:prstGeom prst="rect">
            <a:avLst/>
          </a:prstGeom>
          <a:noFill/>
        </p:spPr>
        <p:txBody>
          <a:bodyPr wrap="square">
            <a:spAutoFit/>
          </a:bodyPr>
          <a:lstStyle/>
          <a:p>
            <a:pPr algn="ctr"/>
            <a:r>
              <a:rPr sz="1600" b="1" i="0">
                <a:solidFill>
                  <a:srgbClr val="FFFFFF"/>
                </a:solidFill>
                <a:latin typeface="Calibri"/>
              </a:rPr>
              <a:t>5</a:t>
            </a:r>
          </a:p>
        </p:txBody>
      </p:sp>
      <p:sp>
        <p:nvSpPr>
          <p:cNvPr id="33" name="TextBox 32"/>
          <p:cNvSpPr txBox="1"/>
          <p:nvPr/>
        </p:nvSpPr>
        <p:spPr>
          <a:xfrm>
            <a:off x="1051560" y="5074920"/>
            <a:ext cx="3474720" cy="365760"/>
          </a:xfrm>
          <a:prstGeom prst="rect">
            <a:avLst/>
          </a:prstGeom>
          <a:noFill/>
        </p:spPr>
        <p:txBody>
          <a:bodyPr wrap="square">
            <a:spAutoFit/>
          </a:bodyPr>
          <a:lstStyle/>
          <a:p>
            <a:pPr algn="l"/>
            <a:r>
              <a:rPr sz="1300" b="1" i="0">
                <a:solidFill>
                  <a:srgbClr val="7C3AED"/>
                </a:solidFill>
                <a:latin typeface="Calibri"/>
              </a:rPr>
              <a:t>Output Display</a:t>
            </a:r>
          </a:p>
        </p:txBody>
      </p:sp>
      <p:sp>
        <p:nvSpPr>
          <p:cNvPr id="34" name="TextBox 33"/>
          <p:cNvSpPr txBox="1"/>
          <p:nvPr/>
        </p:nvSpPr>
        <p:spPr>
          <a:xfrm>
            <a:off x="1051560" y="5440679"/>
            <a:ext cx="10058400" cy="320040"/>
          </a:xfrm>
          <a:prstGeom prst="rect">
            <a:avLst/>
          </a:prstGeom>
          <a:noFill/>
        </p:spPr>
        <p:txBody>
          <a:bodyPr wrap="square">
            <a:spAutoFit/>
          </a:bodyPr>
          <a:lstStyle/>
          <a:p>
            <a:pPr algn="l"/>
            <a:r>
              <a:rPr sz="1100" b="0" i="0">
                <a:solidFill>
                  <a:srgbClr val="94A3B8"/>
                </a:solidFill>
                <a:latin typeface="Calibri"/>
              </a:rPr>
              <a:t>AI Chat Bubble  —  Provider Label  —  Session Save</a:t>
            </a:r>
          </a:p>
        </p:txBody>
      </p:sp>
      <p:sp>
        <p:nvSpPr>
          <p:cNvPr id="35" name="Rectangle 34"/>
          <p:cNvSpPr/>
          <p:nvPr/>
        </p:nvSpPr>
        <p:spPr>
          <a:xfrm>
            <a:off x="5943600" y="5788152"/>
            <a:ext cx="27432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5897880"/>
            <a:ext cx="11430000" cy="7863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5760" y="5897880"/>
            <a:ext cx="548640" cy="78638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062472"/>
            <a:ext cx="548640" cy="475488"/>
          </a:xfrm>
          <a:prstGeom prst="rect">
            <a:avLst/>
          </a:prstGeom>
          <a:noFill/>
        </p:spPr>
        <p:txBody>
          <a:bodyPr wrap="square">
            <a:spAutoFit/>
          </a:bodyPr>
          <a:lstStyle/>
          <a:p>
            <a:pPr algn="ctr"/>
            <a:r>
              <a:rPr sz="1600" b="1" i="0">
                <a:solidFill>
                  <a:srgbClr val="FFFFFF"/>
                </a:solidFill>
                <a:latin typeface="Calibri"/>
              </a:rPr>
              <a:t>6</a:t>
            </a:r>
          </a:p>
        </p:txBody>
      </p:sp>
      <p:sp>
        <p:nvSpPr>
          <p:cNvPr id="39" name="TextBox 38"/>
          <p:cNvSpPr txBox="1"/>
          <p:nvPr/>
        </p:nvSpPr>
        <p:spPr>
          <a:xfrm>
            <a:off x="1051560" y="5971032"/>
            <a:ext cx="3474720" cy="365760"/>
          </a:xfrm>
          <a:prstGeom prst="rect">
            <a:avLst/>
          </a:prstGeom>
          <a:noFill/>
        </p:spPr>
        <p:txBody>
          <a:bodyPr wrap="square">
            <a:spAutoFit/>
          </a:bodyPr>
          <a:lstStyle/>
          <a:p>
            <a:pPr algn="l"/>
            <a:r>
              <a:rPr sz="1300" b="1" i="0">
                <a:solidFill>
                  <a:srgbClr val="EF4444"/>
                </a:solidFill>
                <a:latin typeface="Calibri"/>
              </a:rPr>
              <a:t>Voice Output</a:t>
            </a:r>
          </a:p>
        </p:txBody>
      </p:sp>
      <p:sp>
        <p:nvSpPr>
          <p:cNvPr id="40" name="TextBox 39"/>
          <p:cNvSpPr txBox="1"/>
          <p:nvPr/>
        </p:nvSpPr>
        <p:spPr>
          <a:xfrm>
            <a:off x="1051560" y="6336792"/>
            <a:ext cx="10058400" cy="320040"/>
          </a:xfrm>
          <a:prstGeom prst="rect">
            <a:avLst/>
          </a:prstGeom>
          <a:noFill/>
        </p:spPr>
        <p:txBody>
          <a:bodyPr wrap="square">
            <a:spAutoFit/>
          </a:bodyPr>
          <a:lstStyle/>
          <a:p>
            <a:pPr algn="l"/>
            <a:r>
              <a:rPr sz="1100" b="0" i="0">
                <a:solidFill>
                  <a:srgbClr val="94A3B8"/>
                </a:solidFill>
                <a:latin typeface="Calibri"/>
              </a:rPr>
              <a:t>pyttsx3 Text-to-Speech  —  Audio Playback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NATURAL LANGUAGE PROCESSING (NLP)</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How the system understands human language</a:t>
            </a:r>
          </a:p>
        </p:txBody>
      </p:sp>
      <p:sp>
        <p:nvSpPr>
          <p:cNvPr id="6" name="Rectangle 5"/>
          <p:cNvSpPr/>
          <p:nvPr/>
        </p:nvSpPr>
        <p:spPr>
          <a:xfrm>
            <a:off x="365760" y="1417320"/>
            <a:ext cx="68580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5120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6217920" cy="457200"/>
          </a:xfrm>
          <a:prstGeom prst="rect">
            <a:avLst/>
          </a:prstGeom>
          <a:noFill/>
        </p:spPr>
        <p:txBody>
          <a:bodyPr wrap="square">
            <a:spAutoFit/>
          </a:bodyPr>
          <a:lstStyle/>
          <a:p>
            <a:pPr algn="l"/>
            <a:r>
              <a:rPr sz="1500" b="1" i="0">
                <a:solidFill>
                  <a:srgbClr val="1E40AF"/>
                </a:solidFill>
                <a:latin typeface="Calibri"/>
              </a:rPr>
              <a:t>What is NLP?</a:t>
            </a:r>
          </a:p>
        </p:txBody>
      </p:sp>
      <p:sp>
        <p:nvSpPr>
          <p:cNvPr id="9" name="TextBox 8"/>
          <p:cNvSpPr txBox="1"/>
          <p:nvPr/>
        </p:nvSpPr>
        <p:spPr>
          <a:xfrm>
            <a:off x="777240" y="2011680"/>
            <a:ext cx="6217920" cy="777240"/>
          </a:xfrm>
          <a:prstGeom prst="rect">
            <a:avLst/>
          </a:prstGeom>
          <a:noFill/>
        </p:spPr>
        <p:txBody>
          <a:bodyPr wrap="square">
            <a:spAutoFit/>
          </a:bodyPr>
          <a:lstStyle/>
          <a:p>
            <a:pPr algn="l"/>
            <a:r>
              <a:rPr sz="1300" b="0" i="0">
                <a:solidFill>
                  <a:srgbClr val="1E293B"/>
                </a:solidFill>
                <a:latin typeface="Calibri"/>
              </a:rPr>
              <a:t>NLP is a branch of AI that enables computers to understand, interpret, and generate human language naturally.</a:t>
            </a:r>
          </a:p>
        </p:txBody>
      </p:sp>
      <p:sp>
        <p:nvSpPr>
          <p:cNvPr id="10" name="TextBox 9"/>
          <p:cNvSpPr txBox="1"/>
          <p:nvPr/>
        </p:nvSpPr>
        <p:spPr>
          <a:xfrm>
            <a:off x="777240" y="2926080"/>
            <a:ext cx="6217920" cy="411480"/>
          </a:xfrm>
          <a:prstGeom prst="rect">
            <a:avLst/>
          </a:prstGeom>
          <a:noFill/>
        </p:spPr>
        <p:txBody>
          <a:bodyPr wrap="square">
            <a:spAutoFit/>
          </a:bodyPr>
          <a:lstStyle/>
          <a:p>
            <a:pPr algn="l"/>
            <a:r>
              <a:rPr sz="1400" b="1" i="0">
                <a:solidFill>
                  <a:srgbClr val="1E40AF"/>
                </a:solidFill>
                <a:latin typeface="Calibri"/>
              </a:rPr>
              <a:t>Functions in this Project:</a:t>
            </a:r>
          </a:p>
        </p:txBody>
      </p:sp>
      <p:sp>
        <p:nvSpPr>
          <p:cNvPr id="11" name="TextBox 10"/>
          <p:cNvSpPr txBox="1"/>
          <p:nvPr/>
        </p:nvSpPr>
        <p:spPr>
          <a:xfrm>
            <a:off x="777240" y="3383280"/>
            <a:ext cx="6217920" cy="2743200"/>
          </a:xfrm>
          <a:prstGeom prst="rect">
            <a:avLst/>
          </a:prstGeom>
          <a:noFill/>
        </p:spPr>
        <p:txBody>
          <a:bodyPr wrap="square">
            <a:spAutoFit/>
          </a:bodyPr>
          <a:lstStyle/>
          <a:p>
            <a:pPr algn="l">
              <a:spcBef>
                <a:spcPts val="300"/>
              </a:spcBef>
            </a:pPr>
            <a:r>
              <a:rPr sz="1300" b="0">
                <a:solidFill>
                  <a:srgbClr val="1E293B"/>
                </a:solidFill>
                <a:latin typeface="Calibri"/>
              </a:rPr>
              <a:t>  ›  Understanding user questions</a:t>
            </a:r>
          </a:p>
          <a:p>
            <a:pPr algn="l">
              <a:spcBef>
                <a:spcPts val="300"/>
              </a:spcBef>
            </a:pPr>
            <a:r>
              <a:rPr sz="1300" b="0">
                <a:solidFill>
                  <a:srgbClr val="1E293B"/>
                </a:solidFill>
                <a:latin typeface="Calibri"/>
              </a:rPr>
              <a:t>  ›  Context analysis across turns</a:t>
            </a:r>
          </a:p>
          <a:p>
            <a:pPr algn="l">
              <a:spcBef>
                <a:spcPts val="300"/>
              </a:spcBef>
            </a:pPr>
            <a:r>
              <a:rPr sz="1300" b="0">
                <a:solidFill>
                  <a:srgbClr val="1E293B"/>
                </a:solidFill>
                <a:latin typeface="Calibri"/>
              </a:rPr>
              <a:t>  ›  Intent recognition and routing</a:t>
            </a:r>
          </a:p>
          <a:p>
            <a:pPr algn="l">
              <a:spcBef>
                <a:spcPts val="300"/>
              </a:spcBef>
            </a:pPr>
            <a:r>
              <a:rPr sz="1300" b="0">
                <a:solidFill>
                  <a:srgbClr val="1E293B"/>
                </a:solidFill>
                <a:latin typeface="Calibri"/>
              </a:rPr>
              <a:t>  ›  Intelligent response generation</a:t>
            </a:r>
          </a:p>
          <a:p>
            <a:pPr algn="l">
              <a:spcBef>
                <a:spcPts val="300"/>
              </a:spcBef>
            </a:pPr>
            <a:r>
              <a:rPr sz="1300" b="0">
                <a:solidFill>
                  <a:srgbClr val="1E293B"/>
                </a:solidFill>
                <a:latin typeface="Calibri"/>
              </a:rPr>
              <a:t>  ›  Multi-turn conversation support</a:t>
            </a:r>
          </a:p>
        </p:txBody>
      </p:sp>
      <p:sp>
        <p:nvSpPr>
          <p:cNvPr id="12" name="Rectangle 11"/>
          <p:cNvSpPr/>
          <p:nvPr/>
        </p:nvSpPr>
        <p:spPr>
          <a:xfrm>
            <a:off x="7498079" y="1417320"/>
            <a:ext cx="429768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1417320"/>
            <a:ext cx="256032" cy="51206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1508760"/>
            <a:ext cx="3749039" cy="411480"/>
          </a:xfrm>
          <a:prstGeom prst="rect">
            <a:avLst/>
          </a:prstGeom>
          <a:noFill/>
        </p:spPr>
        <p:txBody>
          <a:bodyPr wrap="square">
            <a:spAutoFit/>
          </a:bodyPr>
          <a:lstStyle/>
          <a:p>
            <a:pPr algn="l"/>
            <a:r>
              <a:rPr sz="1500" b="1" i="0">
                <a:solidFill>
                  <a:srgbClr val="0F766E"/>
                </a:solidFill>
                <a:latin typeface="Calibri"/>
              </a:rPr>
              <a:t>NLP Flow</a:t>
            </a:r>
          </a:p>
        </p:txBody>
      </p:sp>
      <p:sp>
        <p:nvSpPr>
          <p:cNvPr id="15" name="Rectangle 14"/>
          <p:cNvSpPr/>
          <p:nvPr/>
        </p:nvSpPr>
        <p:spPr>
          <a:xfrm>
            <a:off x="7772400" y="2011680"/>
            <a:ext cx="3749039"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0" y="2011680"/>
            <a:ext cx="201168" cy="6583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048256"/>
            <a:ext cx="3200400" cy="274320"/>
          </a:xfrm>
          <a:prstGeom prst="rect">
            <a:avLst/>
          </a:prstGeom>
          <a:noFill/>
        </p:spPr>
        <p:txBody>
          <a:bodyPr wrap="square">
            <a:spAutoFit/>
          </a:bodyPr>
          <a:lstStyle/>
          <a:p>
            <a:pPr algn="l"/>
            <a:r>
              <a:rPr sz="1100" b="1" i="0">
                <a:solidFill>
                  <a:srgbClr val="1E293B"/>
                </a:solidFill>
                <a:latin typeface="Calibri"/>
              </a:rPr>
              <a:t>User Input</a:t>
            </a:r>
          </a:p>
        </p:txBody>
      </p:sp>
      <p:sp>
        <p:nvSpPr>
          <p:cNvPr id="18" name="TextBox 17"/>
          <p:cNvSpPr txBox="1"/>
          <p:nvPr/>
        </p:nvSpPr>
        <p:spPr>
          <a:xfrm>
            <a:off x="8092440" y="2322576"/>
            <a:ext cx="3200400" cy="274320"/>
          </a:xfrm>
          <a:prstGeom prst="rect">
            <a:avLst/>
          </a:prstGeom>
          <a:noFill/>
        </p:spPr>
        <p:txBody>
          <a:bodyPr wrap="square">
            <a:spAutoFit/>
          </a:bodyPr>
          <a:lstStyle/>
          <a:p>
            <a:pPr algn="l"/>
            <a:r>
              <a:rPr sz="1000" b="0" i="0">
                <a:solidFill>
                  <a:srgbClr val="94A3B8"/>
                </a:solidFill>
                <a:latin typeface="Calibri"/>
              </a:rPr>
              <a:t>Student types/speaks question</a:t>
            </a:r>
          </a:p>
        </p:txBody>
      </p:sp>
      <p:sp>
        <p:nvSpPr>
          <p:cNvPr id="19" name="Rectangle 18"/>
          <p:cNvSpPr/>
          <p:nvPr/>
        </p:nvSpPr>
        <p:spPr>
          <a:xfrm>
            <a:off x="7772400" y="2926080"/>
            <a:ext cx="3749039"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2926080"/>
            <a:ext cx="201168" cy="6583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2962656"/>
            <a:ext cx="3200400" cy="274320"/>
          </a:xfrm>
          <a:prstGeom prst="rect">
            <a:avLst/>
          </a:prstGeom>
          <a:noFill/>
        </p:spPr>
        <p:txBody>
          <a:bodyPr wrap="square">
            <a:spAutoFit/>
          </a:bodyPr>
          <a:lstStyle/>
          <a:p>
            <a:pPr algn="l"/>
            <a:r>
              <a:rPr sz="1100" b="1" i="0">
                <a:solidFill>
                  <a:srgbClr val="1E293B"/>
                </a:solidFill>
                <a:latin typeface="Calibri"/>
              </a:rPr>
              <a:t>Tokenization</a:t>
            </a:r>
          </a:p>
        </p:txBody>
      </p:sp>
      <p:sp>
        <p:nvSpPr>
          <p:cNvPr id="22" name="TextBox 21"/>
          <p:cNvSpPr txBox="1"/>
          <p:nvPr/>
        </p:nvSpPr>
        <p:spPr>
          <a:xfrm>
            <a:off x="8092440" y="3236976"/>
            <a:ext cx="3200400" cy="274320"/>
          </a:xfrm>
          <a:prstGeom prst="rect">
            <a:avLst/>
          </a:prstGeom>
          <a:noFill/>
        </p:spPr>
        <p:txBody>
          <a:bodyPr wrap="square">
            <a:spAutoFit/>
          </a:bodyPr>
          <a:lstStyle/>
          <a:p>
            <a:pPr algn="l"/>
            <a:r>
              <a:rPr sz="1000" b="0" i="0">
                <a:solidFill>
                  <a:srgbClr val="94A3B8"/>
                </a:solidFill>
                <a:latin typeface="Calibri"/>
              </a:rPr>
              <a:t>Text broken into tokens</a:t>
            </a:r>
          </a:p>
        </p:txBody>
      </p:sp>
      <p:sp>
        <p:nvSpPr>
          <p:cNvPr id="23" name="Rectangle 22"/>
          <p:cNvSpPr/>
          <p:nvPr/>
        </p:nvSpPr>
        <p:spPr>
          <a:xfrm>
            <a:off x="7772400" y="3840480"/>
            <a:ext cx="3749039"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0" y="3840480"/>
            <a:ext cx="201168" cy="6583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3877056"/>
            <a:ext cx="3200400" cy="274320"/>
          </a:xfrm>
          <a:prstGeom prst="rect">
            <a:avLst/>
          </a:prstGeom>
          <a:noFill/>
        </p:spPr>
        <p:txBody>
          <a:bodyPr wrap="square">
            <a:spAutoFit/>
          </a:bodyPr>
          <a:lstStyle/>
          <a:p>
            <a:pPr algn="l"/>
            <a:r>
              <a:rPr sz="1100" b="1" i="0">
                <a:solidFill>
                  <a:srgbClr val="1E293B"/>
                </a:solidFill>
                <a:latin typeface="Calibri"/>
              </a:rPr>
              <a:t>Context Build</a:t>
            </a:r>
          </a:p>
        </p:txBody>
      </p:sp>
      <p:sp>
        <p:nvSpPr>
          <p:cNvPr id="26" name="TextBox 25"/>
          <p:cNvSpPr txBox="1"/>
          <p:nvPr/>
        </p:nvSpPr>
        <p:spPr>
          <a:xfrm>
            <a:off x="8092440" y="4151376"/>
            <a:ext cx="3200400" cy="274320"/>
          </a:xfrm>
          <a:prstGeom prst="rect">
            <a:avLst/>
          </a:prstGeom>
          <a:noFill/>
        </p:spPr>
        <p:txBody>
          <a:bodyPr wrap="square">
            <a:spAutoFit/>
          </a:bodyPr>
          <a:lstStyle/>
          <a:p>
            <a:pPr algn="l"/>
            <a:r>
              <a:rPr sz="1000" b="0" i="0">
                <a:solidFill>
                  <a:srgbClr val="94A3B8"/>
                </a:solidFill>
                <a:latin typeface="Calibri"/>
              </a:rPr>
              <a:t>History included in prompt</a:t>
            </a:r>
          </a:p>
        </p:txBody>
      </p:sp>
      <p:sp>
        <p:nvSpPr>
          <p:cNvPr id="27" name="Rectangle 26"/>
          <p:cNvSpPr/>
          <p:nvPr/>
        </p:nvSpPr>
        <p:spPr>
          <a:xfrm>
            <a:off x="7772400" y="4754880"/>
            <a:ext cx="3749039"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0" y="4754880"/>
            <a:ext cx="201168" cy="6583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440" y="4791456"/>
            <a:ext cx="3200400" cy="274320"/>
          </a:xfrm>
          <a:prstGeom prst="rect">
            <a:avLst/>
          </a:prstGeom>
          <a:noFill/>
        </p:spPr>
        <p:txBody>
          <a:bodyPr wrap="square">
            <a:spAutoFit/>
          </a:bodyPr>
          <a:lstStyle/>
          <a:p>
            <a:pPr algn="l"/>
            <a:r>
              <a:rPr sz="1100" b="1" i="0">
                <a:solidFill>
                  <a:srgbClr val="1E293B"/>
                </a:solidFill>
                <a:latin typeface="Calibri"/>
              </a:rPr>
              <a:t>AI Processing</a:t>
            </a:r>
          </a:p>
        </p:txBody>
      </p:sp>
      <p:sp>
        <p:nvSpPr>
          <p:cNvPr id="30" name="TextBox 29"/>
          <p:cNvSpPr txBox="1"/>
          <p:nvPr/>
        </p:nvSpPr>
        <p:spPr>
          <a:xfrm>
            <a:off x="8092440" y="5065776"/>
            <a:ext cx="3200400" cy="274320"/>
          </a:xfrm>
          <a:prstGeom prst="rect">
            <a:avLst/>
          </a:prstGeom>
          <a:noFill/>
        </p:spPr>
        <p:txBody>
          <a:bodyPr wrap="square">
            <a:spAutoFit/>
          </a:bodyPr>
          <a:lstStyle/>
          <a:p>
            <a:pPr algn="l"/>
            <a:r>
              <a:rPr sz="1000" b="0" i="0">
                <a:solidFill>
                  <a:srgbClr val="94A3B8"/>
                </a:solidFill>
                <a:latin typeface="Calibri"/>
              </a:rPr>
              <a:t>Groq LLM generates answer</a:t>
            </a:r>
          </a:p>
        </p:txBody>
      </p:sp>
      <p:sp>
        <p:nvSpPr>
          <p:cNvPr id="31" name="Rectangle 30"/>
          <p:cNvSpPr/>
          <p:nvPr/>
        </p:nvSpPr>
        <p:spPr>
          <a:xfrm>
            <a:off x="7772400" y="5669280"/>
            <a:ext cx="3749039"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0" y="5669280"/>
            <a:ext cx="201168" cy="6583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92440" y="5705856"/>
            <a:ext cx="3200400" cy="274320"/>
          </a:xfrm>
          <a:prstGeom prst="rect">
            <a:avLst/>
          </a:prstGeom>
          <a:noFill/>
        </p:spPr>
        <p:txBody>
          <a:bodyPr wrap="square">
            <a:spAutoFit/>
          </a:bodyPr>
          <a:lstStyle/>
          <a:p>
            <a:pPr algn="l"/>
            <a:r>
              <a:rPr sz="1100" b="1" i="0">
                <a:solidFill>
                  <a:srgbClr val="1E293B"/>
                </a:solidFill>
                <a:latin typeface="Calibri"/>
              </a:rPr>
              <a:t>Output</a:t>
            </a:r>
          </a:p>
        </p:txBody>
      </p:sp>
      <p:sp>
        <p:nvSpPr>
          <p:cNvPr id="34" name="TextBox 33"/>
          <p:cNvSpPr txBox="1"/>
          <p:nvPr/>
        </p:nvSpPr>
        <p:spPr>
          <a:xfrm>
            <a:off x="8092440" y="5980176"/>
            <a:ext cx="3200400" cy="274320"/>
          </a:xfrm>
          <a:prstGeom prst="rect">
            <a:avLst/>
          </a:prstGeom>
          <a:noFill/>
        </p:spPr>
        <p:txBody>
          <a:bodyPr wrap="square">
            <a:spAutoFit/>
          </a:bodyPr>
          <a:lstStyle/>
          <a:p>
            <a:pPr algn="l"/>
            <a:r>
              <a:rPr sz="1000" b="0" i="0">
                <a:solidFill>
                  <a:srgbClr val="94A3B8"/>
                </a:solidFill>
                <a:latin typeface="Calibri"/>
              </a:rPr>
              <a:t>Response shown in chat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SPEECH RECOGNITION TECHNOLOGY</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Voice input processing</a:t>
            </a:r>
          </a:p>
        </p:txBody>
      </p:sp>
      <p:sp>
        <p:nvSpPr>
          <p:cNvPr id="6" name="Oval 5"/>
          <p:cNvSpPr/>
          <p:nvPr/>
        </p:nvSpPr>
        <p:spPr>
          <a:xfrm>
            <a:off x="1143000" y="1554480"/>
            <a:ext cx="914400" cy="9144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627632"/>
            <a:ext cx="914400" cy="777240"/>
          </a:xfrm>
          <a:prstGeom prst="rect">
            <a:avLst/>
          </a:prstGeom>
          <a:noFill/>
        </p:spPr>
        <p:txBody>
          <a:bodyPr wrap="square">
            <a:spAutoFit/>
          </a:bodyPr>
          <a:lstStyle/>
          <a:p>
            <a:pPr algn="ctr"/>
            <a:r>
              <a:rPr sz="2200" b="0" i="0">
                <a:solidFill>
                  <a:srgbClr val="FFFFFF"/>
                </a:solidFill>
                <a:latin typeface="Calibri"/>
              </a:rPr>
              <a:t>🎙</a:t>
            </a:r>
          </a:p>
        </p:txBody>
      </p:sp>
      <p:sp>
        <p:nvSpPr>
          <p:cNvPr id="8" name="Rectangle 7"/>
          <p:cNvSpPr/>
          <p:nvPr/>
        </p:nvSpPr>
        <p:spPr>
          <a:xfrm>
            <a:off x="2103120" y="1920240"/>
            <a:ext cx="54864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69748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697480"/>
            <a:ext cx="2103120" cy="3840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743200"/>
            <a:ext cx="1920240" cy="320040"/>
          </a:xfrm>
          <a:prstGeom prst="rect">
            <a:avLst/>
          </a:prstGeom>
          <a:noFill/>
        </p:spPr>
        <p:txBody>
          <a:bodyPr wrap="square">
            <a:spAutoFit/>
          </a:bodyPr>
          <a:lstStyle/>
          <a:p>
            <a:pPr algn="l"/>
            <a:r>
              <a:rPr sz="1300" b="1" i="0">
                <a:solidFill>
                  <a:srgbClr val="FFFFFF"/>
                </a:solidFill>
                <a:latin typeface="Calibri"/>
              </a:rPr>
              <a:t>Voice Capture</a:t>
            </a:r>
          </a:p>
        </p:txBody>
      </p:sp>
      <p:sp>
        <p:nvSpPr>
          <p:cNvPr id="12" name="TextBox 11"/>
          <p:cNvSpPr txBox="1"/>
          <p:nvPr/>
        </p:nvSpPr>
        <p:spPr>
          <a:xfrm>
            <a:off x="457200" y="3154680"/>
            <a:ext cx="1920240" cy="1234440"/>
          </a:xfrm>
          <a:prstGeom prst="rect">
            <a:avLst/>
          </a:prstGeom>
          <a:noFill/>
        </p:spPr>
        <p:txBody>
          <a:bodyPr wrap="square">
            <a:spAutoFit/>
          </a:bodyPr>
          <a:lstStyle/>
          <a:p>
            <a:pPr algn="l"/>
            <a:r>
              <a:rPr sz="1100" b="0" i="0">
                <a:solidFill>
                  <a:srgbClr val="F1F5F9"/>
                </a:solidFill>
                <a:latin typeface="Calibri"/>
              </a:rPr>
              <a:t>Microphone captures audio input</a:t>
            </a:r>
          </a:p>
        </p:txBody>
      </p:sp>
      <p:sp>
        <p:nvSpPr>
          <p:cNvPr id="13" name="Oval 12"/>
          <p:cNvSpPr/>
          <p:nvPr/>
        </p:nvSpPr>
        <p:spPr>
          <a:xfrm>
            <a:off x="3474720" y="1554480"/>
            <a:ext cx="914400" cy="9144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627632"/>
            <a:ext cx="914400" cy="777240"/>
          </a:xfrm>
          <a:prstGeom prst="rect">
            <a:avLst/>
          </a:prstGeom>
          <a:noFill/>
        </p:spPr>
        <p:txBody>
          <a:bodyPr wrap="square">
            <a:spAutoFit/>
          </a:bodyPr>
          <a:lstStyle/>
          <a:p>
            <a:pPr algn="ctr"/>
            <a:r>
              <a:rPr sz="2200" b="0" i="0">
                <a:solidFill>
                  <a:srgbClr val="FFFFFF"/>
                </a:solidFill>
                <a:latin typeface="Calibri"/>
              </a:rPr>
              <a:t>⚙️</a:t>
            </a:r>
          </a:p>
        </p:txBody>
      </p:sp>
      <p:sp>
        <p:nvSpPr>
          <p:cNvPr id="15" name="Rectangle 14"/>
          <p:cNvSpPr/>
          <p:nvPr/>
        </p:nvSpPr>
        <p:spPr>
          <a:xfrm>
            <a:off x="4434840" y="1920240"/>
            <a:ext cx="54864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97479" y="269748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79" y="2697480"/>
            <a:ext cx="2103120" cy="3840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8920" y="2743200"/>
            <a:ext cx="1920240" cy="320040"/>
          </a:xfrm>
          <a:prstGeom prst="rect">
            <a:avLst/>
          </a:prstGeom>
          <a:noFill/>
        </p:spPr>
        <p:txBody>
          <a:bodyPr wrap="square">
            <a:spAutoFit/>
          </a:bodyPr>
          <a:lstStyle/>
          <a:p>
            <a:pPr algn="l"/>
            <a:r>
              <a:rPr sz="1300" b="1" i="0">
                <a:solidFill>
                  <a:srgbClr val="FFFFFF"/>
                </a:solidFill>
                <a:latin typeface="Calibri"/>
              </a:rPr>
              <a:t>Audio Processing</a:t>
            </a:r>
          </a:p>
        </p:txBody>
      </p:sp>
      <p:sp>
        <p:nvSpPr>
          <p:cNvPr id="19" name="TextBox 18"/>
          <p:cNvSpPr txBox="1"/>
          <p:nvPr/>
        </p:nvSpPr>
        <p:spPr>
          <a:xfrm>
            <a:off x="2788920" y="3154680"/>
            <a:ext cx="1920240" cy="1234440"/>
          </a:xfrm>
          <a:prstGeom prst="rect">
            <a:avLst/>
          </a:prstGeom>
          <a:noFill/>
        </p:spPr>
        <p:txBody>
          <a:bodyPr wrap="square">
            <a:spAutoFit/>
          </a:bodyPr>
          <a:lstStyle/>
          <a:p>
            <a:pPr algn="l"/>
            <a:r>
              <a:rPr sz="1100" b="0" i="0">
                <a:solidFill>
                  <a:srgbClr val="F1F5F9"/>
                </a:solidFill>
                <a:latin typeface="Calibri"/>
              </a:rPr>
              <a:t>Signal cleaned and normalized</a:t>
            </a:r>
          </a:p>
        </p:txBody>
      </p:sp>
      <p:sp>
        <p:nvSpPr>
          <p:cNvPr id="20" name="Oval 19"/>
          <p:cNvSpPr/>
          <p:nvPr/>
        </p:nvSpPr>
        <p:spPr>
          <a:xfrm>
            <a:off x="5806440" y="1554480"/>
            <a:ext cx="914400" cy="9144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06440" y="1627632"/>
            <a:ext cx="914400" cy="777240"/>
          </a:xfrm>
          <a:prstGeom prst="rect">
            <a:avLst/>
          </a:prstGeom>
          <a:noFill/>
        </p:spPr>
        <p:txBody>
          <a:bodyPr wrap="square">
            <a:spAutoFit/>
          </a:bodyPr>
          <a:lstStyle/>
          <a:p>
            <a:pPr algn="ctr"/>
            <a:r>
              <a:rPr sz="2200" b="0" i="0">
                <a:solidFill>
                  <a:srgbClr val="FFFFFF"/>
                </a:solidFill>
                <a:latin typeface="Calibri"/>
              </a:rPr>
              <a:t>🔍</a:t>
            </a:r>
          </a:p>
        </p:txBody>
      </p:sp>
      <p:sp>
        <p:nvSpPr>
          <p:cNvPr id="22" name="Rectangle 21"/>
          <p:cNvSpPr/>
          <p:nvPr/>
        </p:nvSpPr>
        <p:spPr>
          <a:xfrm>
            <a:off x="6766560" y="1920240"/>
            <a:ext cx="54864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0" y="269748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0" y="2697480"/>
            <a:ext cx="2103120" cy="3840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2743200"/>
            <a:ext cx="1920240" cy="320040"/>
          </a:xfrm>
          <a:prstGeom prst="rect">
            <a:avLst/>
          </a:prstGeom>
          <a:noFill/>
        </p:spPr>
        <p:txBody>
          <a:bodyPr wrap="square">
            <a:spAutoFit/>
          </a:bodyPr>
          <a:lstStyle/>
          <a:p>
            <a:pPr algn="l"/>
            <a:r>
              <a:rPr sz="1300" b="1" i="0">
                <a:solidFill>
                  <a:srgbClr val="FFFFFF"/>
                </a:solidFill>
                <a:latin typeface="Calibri"/>
              </a:rPr>
              <a:t>Speech Analysis</a:t>
            </a:r>
          </a:p>
        </p:txBody>
      </p:sp>
      <p:sp>
        <p:nvSpPr>
          <p:cNvPr id="26" name="TextBox 25"/>
          <p:cNvSpPr txBox="1"/>
          <p:nvPr/>
        </p:nvSpPr>
        <p:spPr>
          <a:xfrm>
            <a:off x="5120640" y="3154680"/>
            <a:ext cx="1920240" cy="1234440"/>
          </a:xfrm>
          <a:prstGeom prst="rect">
            <a:avLst/>
          </a:prstGeom>
          <a:noFill/>
        </p:spPr>
        <p:txBody>
          <a:bodyPr wrap="square">
            <a:spAutoFit/>
          </a:bodyPr>
          <a:lstStyle/>
          <a:p>
            <a:pPr algn="l"/>
            <a:r>
              <a:rPr sz="1100" b="0" i="0">
                <a:solidFill>
                  <a:srgbClr val="F1F5F9"/>
                </a:solidFill>
                <a:latin typeface="Calibri"/>
              </a:rPr>
              <a:t>Google Speech API analyzes audio</a:t>
            </a:r>
          </a:p>
        </p:txBody>
      </p:sp>
      <p:sp>
        <p:nvSpPr>
          <p:cNvPr id="27" name="Oval 26"/>
          <p:cNvSpPr/>
          <p:nvPr/>
        </p:nvSpPr>
        <p:spPr>
          <a:xfrm>
            <a:off x="8138159" y="1554480"/>
            <a:ext cx="914400" cy="9144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59" y="1627632"/>
            <a:ext cx="914400" cy="777240"/>
          </a:xfrm>
          <a:prstGeom prst="rect">
            <a:avLst/>
          </a:prstGeom>
          <a:noFill/>
        </p:spPr>
        <p:txBody>
          <a:bodyPr wrap="square">
            <a:spAutoFit/>
          </a:bodyPr>
          <a:lstStyle/>
          <a:p>
            <a:pPr algn="ctr"/>
            <a:r>
              <a:rPr sz="2200" b="0" i="0">
                <a:solidFill>
                  <a:srgbClr val="FFFFFF"/>
                </a:solidFill>
                <a:latin typeface="Calibri"/>
              </a:rPr>
              <a:t>📝</a:t>
            </a:r>
          </a:p>
        </p:txBody>
      </p:sp>
      <p:sp>
        <p:nvSpPr>
          <p:cNvPr id="29" name="Rectangle 28"/>
          <p:cNvSpPr/>
          <p:nvPr/>
        </p:nvSpPr>
        <p:spPr>
          <a:xfrm>
            <a:off x="9098280" y="1920240"/>
            <a:ext cx="54864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60919" y="269748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0919" y="2697480"/>
            <a:ext cx="2103120" cy="3840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59" y="2743200"/>
            <a:ext cx="1920240" cy="320040"/>
          </a:xfrm>
          <a:prstGeom prst="rect">
            <a:avLst/>
          </a:prstGeom>
          <a:noFill/>
        </p:spPr>
        <p:txBody>
          <a:bodyPr wrap="square">
            <a:spAutoFit/>
          </a:bodyPr>
          <a:lstStyle/>
          <a:p>
            <a:pPr algn="l"/>
            <a:r>
              <a:rPr sz="1300" b="1" i="0">
                <a:solidFill>
                  <a:srgbClr val="FFFFFF"/>
                </a:solidFill>
                <a:latin typeface="Calibri"/>
              </a:rPr>
              <a:t>Text Conversion</a:t>
            </a:r>
          </a:p>
        </p:txBody>
      </p:sp>
      <p:sp>
        <p:nvSpPr>
          <p:cNvPr id="33" name="TextBox 32"/>
          <p:cNvSpPr txBox="1"/>
          <p:nvPr/>
        </p:nvSpPr>
        <p:spPr>
          <a:xfrm>
            <a:off x="7452359" y="3154680"/>
            <a:ext cx="1920240" cy="1234440"/>
          </a:xfrm>
          <a:prstGeom prst="rect">
            <a:avLst/>
          </a:prstGeom>
          <a:noFill/>
        </p:spPr>
        <p:txBody>
          <a:bodyPr wrap="square">
            <a:spAutoFit/>
          </a:bodyPr>
          <a:lstStyle/>
          <a:p>
            <a:pPr algn="l"/>
            <a:r>
              <a:rPr sz="1100" b="0" i="0">
                <a:solidFill>
                  <a:srgbClr val="F1F5F9"/>
                </a:solidFill>
                <a:latin typeface="Calibri"/>
              </a:rPr>
              <a:t>Spoken words converted to text</a:t>
            </a:r>
          </a:p>
        </p:txBody>
      </p:sp>
      <p:sp>
        <p:nvSpPr>
          <p:cNvPr id="34" name="Oval 33"/>
          <p:cNvSpPr/>
          <p:nvPr/>
        </p:nvSpPr>
        <p:spPr>
          <a:xfrm>
            <a:off x="10469880" y="1554480"/>
            <a:ext cx="914400" cy="9144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69880" y="1627632"/>
            <a:ext cx="914400" cy="777240"/>
          </a:xfrm>
          <a:prstGeom prst="rect">
            <a:avLst/>
          </a:prstGeom>
          <a:noFill/>
        </p:spPr>
        <p:txBody>
          <a:bodyPr wrap="square">
            <a:spAutoFit/>
          </a:bodyPr>
          <a:lstStyle/>
          <a:p>
            <a:pPr algn="ctr"/>
            <a:r>
              <a:rPr sz="2200" b="0" i="0">
                <a:solidFill>
                  <a:srgbClr val="FFFFFF"/>
                </a:solidFill>
                <a:latin typeface="Calibri"/>
              </a:rPr>
              <a:t>✅</a:t>
            </a:r>
          </a:p>
        </p:txBody>
      </p:sp>
      <p:sp>
        <p:nvSpPr>
          <p:cNvPr id="36" name="Rectangle 35"/>
          <p:cNvSpPr/>
          <p:nvPr/>
        </p:nvSpPr>
        <p:spPr>
          <a:xfrm>
            <a:off x="9692640" y="269748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92640" y="2697480"/>
            <a:ext cx="2103120" cy="3840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0" y="2743200"/>
            <a:ext cx="1920240" cy="320040"/>
          </a:xfrm>
          <a:prstGeom prst="rect">
            <a:avLst/>
          </a:prstGeom>
          <a:noFill/>
        </p:spPr>
        <p:txBody>
          <a:bodyPr wrap="square">
            <a:spAutoFit/>
          </a:bodyPr>
          <a:lstStyle/>
          <a:p>
            <a:pPr algn="l"/>
            <a:r>
              <a:rPr sz="1300" b="1" i="0">
                <a:solidFill>
                  <a:srgbClr val="FFFFFF"/>
                </a:solidFill>
                <a:latin typeface="Calibri"/>
              </a:rPr>
              <a:t>Query Dispatch</a:t>
            </a:r>
          </a:p>
        </p:txBody>
      </p:sp>
      <p:sp>
        <p:nvSpPr>
          <p:cNvPr id="39" name="TextBox 38"/>
          <p:cNvSpPr txBox="1"/>
          <p:nvPr/>
        </p:nvSpPr>
        <p:spPr>
          <a:xfrm>
            <a:off x="9784080" y="3154680"/>
            <a:ext cx="1920240" cy="1234440"/>
          </a:xfrm>
          <a:prstGeom prst="rect">
            <a:avLst/>
          </a:prstGeom>
          <a:noFill/>
        </p:spPr>
        <p:txBody>
          <a:bodyPr wrap="square">
            <a:spAutoFit/>
          </a:bodyPr>
          <a:lstStyle/>
          <a:p>
            <a:pPr algn="l"/>
            <a:r>
              <a:rPr sz="1100" b="0" i="0">
                <a:solidFill>
                  <a:srgbClr val="F1F5F9"/>
                </a:solidFill>
                <a:latin typeface="Calibri"/>
              </a:rPr>
              <a:t>Text sent to AI engine</a:t>
            </a:r>
          </a:p>
        </p:txBody>
      </p:sp>
      <p:sp>
        <p:nvSpPr>
          <p:cNvPr id="40" name="Rectangle 39"/>
          <p:cNvSpPr/>
          <p:nvPr/>
        </p:nvSpPr>
        <p:spPr>
          <a:xfrm>
            <a:off x="365760" y="4754880"/>
            <a:ext cx="11430000" cy="1783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846320"/>
            <a:ext cx="3657600" cy="365760"/>
          </a:xfrm>
          <a:prstGeom prst="rect">
            <a:avLst/>
          </a:prstGeom>
          <a:noFill/>
        </p:spPr>
        <p:txBody>
          <a:bodyPr wrap="square">
            <a:spAutoFit/>
          </a:bodyPr>
          <a:lstStyle/>
          <a:p>
            <a:pPr algn="l"/>
            <a:r>
              <a:rPr sz="1400" b="1" i="0">
                <a:solidFill>
                  <a:srgbClr val="06B6D4"/>
                </a:solidFill>
                <a:latin typeface="Calibri"/>
              </a:rPr>
              <a:t>Benefits</a:t>
            </a:r>
          </a:p>
        </p:txBody>
      </p:sp>
      <p:sp>
        <p:nvSpPr>
          <p:cNvPr id="42" name="TextBox 41"/>
          <p:cNvSpPr txBox="1"/>
          <p:nvPr/>
        </p:nvSpPr>
        <p:spPr>
          <a:xfrm>
            <a:off x="640080" y="5230368"/>
            <a:ext cx="10972800" cy="1005840"/>
          </a:xfrm>
          <a:prstGeom prst="rect">
            <a:avLst/>
          </a:prstGeom>
          <a:noFill/>
        </p:spPr>
        <p:txBody>
          <a:bodyPr wrap="square">
            <a:spAutoFit/>
          </a:bodyPr>
          <a:lstStyle/>
          <a:p>
            <a:pPr algn="l">
              <a:spcBef>
                <a:spcPts val="300"/>
              </a:spcBef>
            </a:pPr>
            <a:r>
              <a:rPr sz="1200" b="0">
                <a:solidFill>
                  <a:srgbClr val="F1F5F9"/>
                </a:solidFill>
                <a:latin typeface="Calibri"/>
              </a:rPr>
              <a:t>  ›  Hands-free interaction for students</a:t>
            </a:r>
          </a:p>
          <a:p>
            <a:pPr algn="l">
              <a:spcBef>
                <a:spcPts val="300"/>
              </a:spcBef>
            </a:pPr>
            <a:r>
              <a:rPr sz="1200" b="0">
                <a:solidFill>
                  <a:srgbClr val="F1F5F9"/>
                </a:solidFill>
                <a:latin typeface="Calibri"/>
              </a:rPr>
              <a:t>  ›  Improved accessibility for all users</a:t>
            </a:r>
          </a:p>
          <a:p>
            <a:pPr algn="l">
              <a:spcBef>
                <a:spcPts val="300"/>
              </a:spcBef>
            </a:pPr>
            <a:r>
              <a:rPr sz="1200" b="0">
                <a:solidFill>
                  <a:srgbClr val="F1F5F9"/>
                </a:solidFill>
                <a:latin typeface="Calibri"/>
              </a:rPr>
              <a:t>  ›  Faster query submission via voice</a:t>
            </a:r>
          </a:p>
          <a:p>
            <a:pPr algn="l">
              <a:spcBef>
                <a:spcPts val="300"/>
              </a:spcBef>
            </a:pPr>
            <a:r>
              <a:rPr sz="1200" b="0">
                <a:solidFill>
                  <a:srgbClr val="F1F5F9"/>
                </a:solidFill>
                <a:latin typeface="Calibri"/>
              </a:rPr>
              <a:t>  ›  Reduces typing effort during study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TEXT-TO-SPEECH TECHNOLOGY</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AI responses read aloud to students</a:t>
            </a:r>
          </a:p>
        </p:txBody>
      </p:sp>
      <p:sp>
        <p:nvSpPr>
          <p:cNvPr id="6" name="Rectangle 5"/>
          <p:cNvSpPr/>
          <p:nvPr/>
        </p:nvSpPr>
        <p:spPr>
          <a:xfrm>
            <a:off x="365760" y="1417320"/>
            <a:ext cx="530352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5120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4754880" cy="457200"/>
          </a:xfrm>
          <a:prstGeom prst="rect">
            <a:avLst/>
          </a:prstGeom>
          <a:noFill/>
        </p:spPr>
        <p:txBody>
          <a:bodyPr wrap="square">
            <a:spAutoFit/>
          </a:bodyPr>
          <a:lstStyle/>
          <a:p>
            <a:pPr algn="l"/>
            <a:r>
              <a:rPr sz="1500" b="1" i="0">
                <a:solidFill>
                  <a:srgbClr val="7C3AED"/>
                </a:solidFill>
                <a:latin typeface="Calibri"/>
              </a:rPr>
              <a:t>TTS in Aura AI</a:t>
            </a:r>
          </a:p>
        </p:txBody>
      </p:sp>
      <p:sp>
        <p:nvSpPr>
          <p:cNvPr id="9" name="TextBox 8"/>
          <p:cNvSpPr txBox="1"/>
          <p:nvPr/>
        </p:nvSpPr>
        <p:spPr>
          <a:xfrm>
            <a:off x="777240" y="2057400"/>
            <a:ext cx="4754880" cy="4206240"/>
          </a:xfrm>
          <a:prstGeom prst="rect">
            <a:avLst/>
          </a:prstGeom>
          <a:noFill/>
        </p:spPr>
        <p:txBody>
          <a:bodyPr wrap="square">
            <a:spAutoFit/>
          </a:bodyPr>
          <a:lstStyle/>
          <a:p>
            <a:pPr algn="l">
              <a:spcBef>
                <a:spcPts val="300"/>
              </a:spcBef>
            </a:pPr>
            <a:r>
              <a:rPr sz="1300" b="0">
                <a:solidFill>
                  <a:srgbClr val="1E293B"/>
                </a:solidFill>
                <a:latin typeface="Calibri"/>
              </a:rPr>
              <a:t>  ›  Library: pyttsx3 (offline engine)</a:t>
            </a:r>
          </a:p>
          <a:p>
            <a:pPr algn="l">
              <a:spcBef>
                <a:spcPts val="300"/>
              </a:spcBef>
            </a:pPr>
            <a:r>
              <a:rPr sz="1300" b="0">
                <a:solidFill>
                  <a:srgbClr val="1E293B"/>
                </a:solidFill>
                <a:latin typeface="Calibri"/>
              </a:rPr>
              <a:t>  ›  Speech rate set to 160 wpm</a:t>
            </a:r>
          </a:p>
          <a:p>
            <a:pPr algn="l">
              <a:spcBef>
                <a:spcPts val="300"/>
              </a:spcBef>
            </a:pPr>
            <a:r>
              <a:rPr sz="1300" b="0">
                <a:solidFill>
                  <a:srgbClr val="1E293B"/>
                </a:solidFill>
                <a:latin typeface="Calibri"/>
              </a:rPr>
              <a:t>  ›  Reads first 200 chars of response</a:t>
            </a:r>
          </a:p>
          <a:p>
            <a:pPr algn="l">
              <a:spcBef>
                <a:spcPts val="300"/>
              </a:spcBef>
            </a:pPr>
            <a:r>
              <a:rPr sz="1300" b="0">
                <a:solidFill>
                  <a:srgbClr val="1E293B"/>
                </a:solidFill>
                <a:latin typeface="Calibri"/>
              </a:rPr>
              <a:t>  ›  Toggle switch in UI to enable/disable</a:t>
            </a:r>
          </a:p>
          <a:p>
            <a:pPr algn="l">
              <a:spcBef>
                <a:spcPts val="300"/>
              </a:spcBef>
            </a:pPr>
            <a:r>
              <a:rPr sz="1300" b="0">
                <a:solidFill>
                  <a:srgbClr val="1E293B"/>
                </a:solidFill>
                <a:latin typeface="Calibri"/>
              </a:rPr>
              <a:t>  ›  Runs in background thread</a:t>
            </a:r>
          </a:p>
          <a:p>
            <a:pPr algn="l">
              <a:spcBef>
                <a:spcPts val="300"/>
              </a:spcBef>
            </a:pPr>
            <a:r>
              <a:rPr sz="1300" b="0">
                <a:solidFill>
                  <a:srgbClr val="1E293B"/>
                </a:solidFill>
                <a:latin typeface="Calibri"/>
              </a:rPr>
              <a:t>  ›  No internet required for TTS</a:t>
            </a:r>
          </a:p>
        </p:txBody>
      </p:sp>
      <p:sp>
        <p:nvSpPr>
          <p:cNvPr id="10" name="Rectangle 9"/>
          <p:cNvSpPr/>
          <p:nvPr/>
        </p:nvSpPr>
        <p:spPr>
          <a:xfrm>
            <a:off x="5989320" y="1417320"/>
            <a:ext cx="585216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417320"/>
            <a:ext cx="256032" cy="5120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08760"/>
            <a:ext cx="5303520" cy="457200"/>
          </a:xfrm>
          <a:prstGeom prst="rect">
            <a:avLst/>
          </a:prstGeom>
          <a:noFill/>
        </p:spPr>
        <p:txBody>
          <a:bodyPr wrap="square">
            <a:spAutoFit/>
          </a:bodyPr>
          <a:lstStyle/>
          <a:p>
            <a:pPr algn="l"/>
            <a:r>
              <a:rPr sz="1500" b="1" i="0">
                <a:solidFill>
                  <a:srgbClr val="92400E"/>
                </a:solidFill>
                <a:latin typeface="Calibri"/>
              </a:rPr>
              <a:t>TTS Working Flow</a:t>
            </a:r>
          </a:p>
        </p:txBody>
      </p:sp>
      <p:sp>
        <p:nvSpPr>
          <p:cNvPr id="13" name="Rectangle 12"/>
          <p:cNvSpPr/>
          <p:nvPr/>
        </p:nvSpPr>
        <p:spPr>
          <a:xfrm>
            <a:off x="6400800" y="2011680"/>
            <a:ext cx="5029200"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2011680"/>
            <a:ext cx="201168"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2048256"/>
            <a:ext cx="2286000" cy="274320"/>
          </a:xfrm>
          <a:prstGeom prst="rect">
            <a:avLst/>
          </a:prstGeom>
          <a:noFill/>
        </p:spPr>
        <p:txBody>
          <a:bodyPr wrap="square">
            <a:spAutoFit/>
          </a:bodyPr>
          <a:lstStyle/>
          <a:p>
            <a:pPr algn="l"/>
            <a:r>
              <a:rPr sz="1200" b="1" i="0">
                <a:solidFill>
                  <a:srgbClr val="1E293B"/>
                </a:solidFill>
                <a:latin typeface="Calibri"/>
              </a:rPr>
              <a:t>AI Response</a:t>
            </a:r>
          </a:p>
        </p:txBody>
      </p:sp>
      <p:sp>
        <p:nvSpPr>
          <p:cNvPr id="16" name="TextBox 15"/>
          <p:cNvSpPr txBox="1"/>
          <p:nvPr/>
        </p:nvSpPr>
        <p:spPr>
          <a:xfrm>
            <a:off x="6720840" y="2340864"/>
            <a:ext cx="4572000" cy="256032"/>
          </a:xfrm>
          <a:prstGeom prst="rect">
            <a:avLst/>
          </a:prstGeom>
          <a:noFill/>
        </p:spPr>
        <p:txBody>
          <a:bodyPr wrap="square">
            <a:spAutoFit/>
          </a:bodyPr>
          <a:lstStyle/>
          <a:p>
            <a:pPr algn="l"/>
            <a:r>
              <a:rPr sz="1100" b="0" i="0">
                <a:solidFill>
                  <a:srgbClr val="94A3B8"/>
                </a:solidFill>
                <a:latin typeface="Calibri"/>
              </a:rPr>
              <a:t>Generated text ready</a:t>
            </a:r>
          </a:p>
        </p:txBody>
      </p:sp>
      <p:sp>
        <p:nvSpPr>
          <p:cNvPr id="17" name="Rectangle 16"/>
          <p:cNvSpPr/>
          <p:nvPr/>
        </p:nvSpPr>
        <p:spPr>
          <a:xfrm>
            <a:off x="6400800" y="2880360"/>
            <a:ext cx="5029200"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880360"/>
            <a:ext cx="201168"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2916936"/>
            <a:ext cx="2286000" cy="274320"/>
          </a:xfrm>
          <a:prstGeom prst="rect">
            <a:avLst/>
          </a:prstGeom>
          <a:noFill/>
        </p:spPr>
        <p:txBody>
          <a:bodyPr wrap="square">
            <a:spAutoFit/>
          </a:bodyPr>
          <a:lstStyle/>
          <a:p>
            <a:pPr algn="l"/>
            <a:r>
              <a:rPr sz="1200" b="1" i="0">
                <a:solidFill>
                  <a:srgbClr val="1E293B"/>
                </a:solidFill>
                <a:latin typeface="Calibri"/>
              </a:rPr>
              <a:t>Text Extract</a:t>
            </a:r>
          </a:p>
        </p:txBody>
      </p:sp>
      <p:sp>
        <p:nvSpPr>
          <p:cNvPr id="20" name="TextBox 19"/>
          <p:cNvSpPr txBox="1"/>
          <p:nvPr/>
        </p:nvSpPr>
        <p:spPr>
          <a:xfrm>
            <a:off x="6720840" y="3209544"/>
            <a:ext cx="4572000" cy="256032"/>
          </a:xfrm>
          <a:prstGeom prst="rect">
            <a:avLst/>
          </a:prstGeom>
          <a:noFill/>
        </p:spPr>
        <p:txBody>
          <a:bodyPr wrap="square">
            <a:spAutoFit/>
          </a:bodyPr>
          <a:lstStyle/>
          <a:p>
            <a:pPr algn="l"/>
            <a:r>
              <a:rPr sz="1100" b="0" i="0">
                <a:solidFill>
                  <a:srgbClr val="94A3B8"/>
                </a:solidFill>
                <a:latin typeface="Calibri"/>
              </a:rPr>
              <a:t>First line extracted</a:t>
            </a:r>
          </a:p>
        </p:txBody>
      </p:sp>
      <p:sp>
        <p:nvSpPr>
          <p:cNvPr id="21" name="Rectangle 20"/>
          <p:cNvSpPr/>
          <p:nvPr/>
        </p:nvSpPr>
        <p:spPr>
          <a:xfrm>
            <a:off x="6400800" y="3749039"/>
            <a:ext cx="5029200"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3749039"/>
            <a:ext cx="201168"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3785615"/>
            <a:ext cx="2286000" cy="274320"/>
          </a:xfrm>
          <a:prstGeom prst="rect">
            <a:avLst/>
          </a:prstGeom>
          <a:noFill/>
        </p:spPr>
        <p:txBody>
          <a:bodyPr wrap="square">
            <a:spAutoFit/>
          </a:bodyPr>
          <a:lstStyle/>
          <a:p>
            <a:pPr algn="l"/>
            <a:r>
              <a:rPr sz="1200" b="1" i="0">
                <a:solidFill>
                  <a:srgbClr val="1E293B"/>
                </a:solidFill>
                <a:latin typeface="Calibri"/>
              </a:rPr>
              <a:t>pyttsx3 Init</a:t>
            </a:r>
          </a:p>
        </p:txBody>
      </p:sp>
      <p:sp>
        <p:nvSpPr>
          <p:cNvPr id="24" name="TextBox 23"/>
          <p:cNvSpPr txBox="1"/>
          <p:nvPr/>
        </p:nvSpPr>
        <p:spPr>
          <a:xfrm>
            <a:off x="6720840" y="4078224"/>
            <a:ext cx="4572000" cy="256032"/>
          </a:xfrm>
          <a:prstGeom prst="rect">
            <a:avLst/>
          </a:prstGeom>
          <a:noFill/>
        </p:spPr>
        <p:txBody>
          <a:bodyPr wrap="square">
            <a:spAutoFit/>
          </a:bodyPr>
          <a:lstStyle/>
          <a:p>
            <a:pPr algn="l"/>
            <a:r>
              <a:rPr sz="1100" b="0" i="0">
                <a:solidFill>
                  <a:srgbClr val="94A3B8"/>
                </a:solidFill>
                <a:latin typeface="Calibri"/>
              </a:rPr>
              <a:t>Engine initialized</a:t>
            </a:r>
          </a:p>
        </p:txBody>
      </p:sp>
      <p:sp>
        <p:nvSpPr>
          <p:cNvPr id="25" name="Rectangle 24"/>
          <p:cNvSpPr/>
          <p:nvPr/>
        </p:nvSpPr>
        <p:spPr>
          <a:xfrm>
            <a:off x="6400800" y="4617720"/>
            <a:ext cx="5029200"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617720"/>
            <a:ext cx="201168"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4654296"/>
            <a:ext cx="2286000" cy="274320"/>
          </a:xfrm>
          <a:prstGeom prst="rect">
            <a:avLst/>
          </a:prstGeom>
          <a:noFill/>
        </p:spPr>
        <p:txBody>
          <a:bodyPr wrap="square">
            <a:spAutoFit/>
          </a:bodyPr>
          <a:lstStyle/>
          <a:p>
            <a:pPr algn="l"/>
            <a:r>
              <a:rPr sz="1200" b="1" i="0">
                <a:solidFill>
                  <a:srgbClr val="1E293B"/>
                </a:solidFill>
                <a:latin typeface="Calibri"/>
              </a:rPr>
              <a:t>Speech Synth</a:t>
            </a:r>
          </a:p>
        </p:txBody>
      </p:sp>
      <p:sp>
        <p:nvSpPr>
          <p:cNvPr id="28" name="TextBox 27"/>
          <p:cNvSpPr txBox="1"/>
          <p:nvPr/>
        </p:nvSpPr>
        <p:spPr>
          <a:xfrm>
            <a:off x="6720840" y="4946904"/>
            <a:ext cx="4572000" cy="256032"/>
          </a:xfrm>
          <a:prstGeom prst="rect">
            <a:avLst/>
          </a:prstGeom>
          <a:noFill/>
        </p:spPr>
        <p:txBody>
          <a:bodyPr wrap="square">
            <a:spAutoFit/>
          </a:bodyPr>
          <a:lstStyle/>
          <a:p>
            <a:pPr algn="l"/>
            <a:r>
              <a:rPr sz="1100" b="0" i="0">
                <a:solidFill>
                  <a:srgbClr val="94A3B8"/>
                </a:solidFill>
                <a:latin typeface="Calibri"/>
              </a:rPr>
              <a:t>Text converted to audio</a:t>
            </a:r>
          </a:p>
        </p:txBody>
      </p:sp>
      <p:sp>
        <p:nvSpPr>
          <p:cNvPr id="29" name="Rectangle 28"/>
          <p:cNvSpPr/>
          <p:nvPr/>
        </p:nvSpPr>
        <p:spPr>
          <a:xfrm>
            <a:off x="6400800" y="5486400"/>
            <a:ext cx="5029200" cy="6583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5486400"/>
            <a:ext cx="201168"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5522976"/>
            <a:ext cx="2286000" cy="274320"/>
          </a:xfrm>
          <a:prstGeom prst="rect">
            <a:avLst/>
          </a:prstGeom>
          <a:noFill/>
        </p:spPr>
        <p:txBody>
          <a:bodyPr wrap="square">
            <a:spAutoFit/>
          </a:bodyPr>
          <a:lstStyle/>
          <a:p>
            <a:pPr algn="l"/>
            <a:r>
              <a:rPr sz="1200" b="1" i="0">
                <a:solidFill>
                  <a:srgbClr val="1E293B"/>
                </a:solidFill>
                <a:latin typeface="Calibri"/>
              </a:rPr>
              <a:t>Audio Output</a:t>
            </a:r>
          </a:p>
        </p:txBody>
      </p:sp>
      <p:sp>
        <p:nvSpPr>
          <p:cNvPr id="32" name="TextBox 31"/>
          <p:cNvSpPr txBox="1"/>
          <p:nvPr/>
        </p:nvSpPr>
        <p:spPr>
          <a:xfrm>
            <a:off x="6720840" y="5815584"/>
            <a:ext cx="4572000" cy="256032"/>
          </a:xfrm>
          <a:prstGeom prst="rect">
            <a:avLst/>
          </a:prstGeom>
          <a:noFill/>
        </p:spPr>
        <p:txBody>
          <a:bodyPr wrap="square">
            <a:spAutoFit/>
          </a:bodyPr>
          <a:lstStyle/>
          <a:p>
            <a:pPr algn="l"/>
            <a:r>
              <a:rPr sz="1100" b="0" i="0">
                <a:solidFill>
                  <a:srgbClr val="94A3B8"/>
                </a:solidFill>
                <a:latin typeface="Calibri"/>
              </a:rPr>
              <a:t>Played through speakers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PDF PROCESSING MODULE</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Upload and analyze study documents</a:t>
            </a:r>
          </a:p>
        </p:txBody>
      </p:sp>
      <p:sp>
        <p:nvSpPr>
          <p:cNvPr id="6" name="Rectangle 5"/>
          <p:cNvSpPr/>
          <p:nvPr/>
        </p:nvSpPr>
        <p:spPr>
          <a:xfrm>
            <a:off x="365760" y="1417320"/>
            <a:ext cx="11430000" cy="914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10972800" cy="731520"/>
          </a:xfrm>
          <a:prstGeom prst="rect">
            <a:avLst/>
          </a:prstGeom>
          <a:noFill/>
        </p:spPr>
        <p:txBody>
          <a:bodyPr wrap="square">
            <a:spAutoFit/>
          </a:bodyPr>
          <a:lstStyle/>
          <a:p>
            <a:pPr algn="l"/>
            <a:r>
              <a:rPr sz="1300" b="0" i="0">
                <a:solidFill>
                  <a:srgbClr val="F1F5F9"/>
                </a:solidFill>
                <a:latin typeface="Calibri"/>
              </a:rPr>
              <a:t>Students can upload any PDF document — the system extracts all text and sends it to the AI for instant analysis, summaries, and Q&amp;A.</a:t>
            </a:r>
          </a:p>
        </p:txBody>
      </p:sp>
      <p:sp>
        <p:nvSpPr>
          <p:cNvPr id="8" name="Rectangle 7"/>
          <p:cNvSpPr/>
          <p:nvPr/>
        </p:nvSpPr>
        <p:spPr>
          <a:xfrm>
            <a:off x="365760" y="2514600"/>
            <a:ext cx="3611880"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514600"/>
            <a:ext cx="274320" cy="17373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97480"/>
            <a:ext cx="2926080" cy="457200"/>
          </a:xfrm>
          <a:prstGeom prst="rect">
            <a:avLst/>
          </a:prstGeom>
          <a:noFill/>
        </p:spPr>
        <p:txBody>
          <a:bodyPr wrap="square">
            <a:spAutoFit/>
          </a:bodyPr>
          <a:lstStyle/>
          <a:p>
            <a:pPr algn="l"/>
            <a:r>
              <a:rPr sz="2000" b="0" i="0">
                <a:solidFill>
                  <a:srgbClr val="EF4444"/>
                </a:solidFill>
                <a:latin typeface="Calibri"/>
              </a:rPr>
              <a:t>📂</a:t>
            </a:r>
          </a:p>
        </p:txBody>
      </p:sp>
      <p:sp>
        <p:nvSpPr>
          <p:cNvPr id="11" name="TextBox 10"/>
          <p:cNvSpPr txBox="1"/>
          <p:nvPr/>
        </p:nvSpPr>
        <p:spPr>
          <a:xfrm>
            <a:off x="822960" y="3172968"/>
            <a:ext cx="2926080" cy="365760"/>
          </a:xfrm>
          <a:prstGeom prst="rect">
            <a:avLst/>
          </a:prstGeom>
          <a:noFill/>
        </p:spPr>
        <p:txBody>
          <a:bodyPr wrap="square">
            <a:spAutoFit/>
          </a:bodyPr>
          <a:lstStyle/>
          <a:p>
            <a:pPr algn="l"/>
            <a:r>
              <a:rPr sz="1300" b="1" i="0">
                <a:solidFill>
                  <a:srgbClr val="FFFFFF"/>
                </a:solidFill>
                <a:latin typeface="Calibri"/>
              </a:rPr>
              <a:t>File Upload</a:t>
            </a:r>
          </a:p>
        </p:txBody>
      </p:sp>
      <p:sp>
        <p:nvSpPr>
          <p:cNvPr id="12" name="TextBox 11"/>
          <p:cNvSpPr txBox="1"/>
          <p:nvPr/>
        </p:nvSpPr>
        <p:spPr>
          <a:xfrm>
            <a:off x="822960" y="3566160"/>
            <a:ext cx="2926080" cy="502920"/>
          </a:xfrm>
          <a:prstGeom prst="rect">
            <a:avLst/>
          </a:prstGeom>
          <a:noFill/>
        </p:spPr>
        <p:txBody>
          <a:bodyPr wrap="square">
            <a:spAutoFit/>
          </a:bodyPr>
          <a:lstStyle/>
          <a:p>
            <a:pPr algn="l"/>
            <a:r>
              <a:rPr sz="1100" b="0" i="0">
                <a:solidFill>
                  <a:srgbClr val="94A3B8"/>
                </a:solidFill>
                <a:latin typeface="Calibri"/>
              </a:rPr>
              <a:t>filedialog opens PDF browser</a:t>
            </a:r>
          </a:p>
        </p:txBody>
      </p:sp>
      <p:sp>
        <p:nvSpPr>
          <p:cNvPr id="13" name="Rectangle 12"/>
          <p:cNvSpPr/>
          <p:nvPr/>
        </p:nvSpPr>
        <p:spPr>
          <a:xfrm>
            <a:off x="4297680" y="2514600"/>
            <a:ext cx="3611880"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514600"/>
            <a:ext cx="274320" cy="17373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2697480"/>
            <a:ext cx="2926080" cy="457200"/>
          </a:xfrm>
          <a:prstGeom prst="rect">
            <a:avLst/>
          </a:prstGeom>
          <a:noFill/>
        </p:spPr>
        <p:txBody>
          <a:bodyPr wrap="square">
            <a:spAutoFit/>
          </a:bodyPr>
          <a:lstStyle/>
          <a:p>
            <a:pPr algn="l"/>
            <a:r>
              <a:rPr sz="2000" b="0" i="0">
                <a:solidFill>
                  <a:srgbClr val="F59E0B"/>
                </a:solidFill>
                <a:latin typeface="Calibri"/>
              </a:rPr>
              <a:t>🔍</a:t>
            </a:r>
          </a:p>
        </p:txBody>
      </p:sp>
      <p:sp>
        <p:nvSpPr>
          <p:cNvPr id="16" name="TextBox 15"/>
          <p:cNvSpPr txBox="1"/>
          <p:nvPr/>
        </p:nvSpPr>
        <p:spPr>
          <a:xfrm>
            <a:off x="4754880" y="3172968"/>
            <a:ext cx="2926080" cy="365760"/>
          </a:xfrm>
          <a:prstGeom prst="rect">
            <a:avLst/>
          </a:prstGeom>
          <a:noFill/>
        </p:spPr>
        <p:txBody>
          <a:bodyPr wrap="square">
            <a:spAutoFit/>
          </a:bodyPr>
          <a:lstStyle/>
          <a:p>
            <a:pPr algn="l"/>
            <a:r>
              <a:rPr sz="1300" b="1" i="0">
                <a:solidFill>
                  <a:srgbClr val="FFFFFF"/>
                </a:solidFill>
                <a:latin typeface="Calibri"/>
              </a:rPr>
              <a:t>Text Extract</a:t>
            </a:r>
          </a:p>
        </p:txBody>
      </p:sp>
      <p:sp>
        <p:nvSpPr>
          <p:cNvPr id="17" name="TextBox 16"/>
          <p:cNvSpPr txBox="1"/>
          <p:nvPr/>
        </p:nvSpPr>
        <p:spPr>
          <a:xfrm>
            <a:off x="4754880" y="3566160"/>
            <a:ext cx="2926080" cy="502920"/>
          </a:xfrm>
          <a:prstGeom prst="rect">
            <a:avLst/>
          </a:prstGeom>
          <a:noFill/>
        </p:spPr>
        <p:txBody>
          <a:bodyPr wrap="square">
            <a:spAutoFit/>
          </a:bodyPr>
          <a:lstStyle/>
          <a:p>
            <a:pPr algn="l"/>
            <a:r>
              <a:rPr sz="1100" b="0" i="0">
                <a:solidFill>
                  <a:srgbClr val="94A3B8"/>
                </a:solidFill>
                <a:latin typeface="Calibri"/>
              </a:rPr>
              <a:t>pypdf reads all pages</a:t>
            </a:r>
          </a:p>
        </p:txBody>
      </p:sp>
      <p:sp>
        <p:nvSpPr>
          <p:cNvPr id="18" name="Rectangle 17"/>
          <p:cNvSpPr/>
          <p:nvPr/>
        </p:nvSpPr>
        <p:spPr>
          <a:xfrm>
            <a:off x="8229600" y="2514600"/>
            <a:ext cx="3611880"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2514600"/>
            <a:ext cx="274320" cy="17373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0" y="2697480"/>
            <a:ext cx="2926080" cy="457200"/>
          </a:xfrm>
          <a:prstGeom prst="rect">
            <a:avLst/>
          </a:prstGeom>
          <a:noFill/>
        </p:spPr>
        <p:txBody>
          <a:bodyPr wrap="square">
            <a:spAutoFit/>
          </a:bodyPr>
          <a:lstStyle/>
          <a:p>
            <a:pPr algn="l"/>
            <a:r>
              <a:rPr sz="2000" b="0" i="0">
                <a:solidFill>
                  <a:srgbClr val="06B6D4"/>
                </a:solidFill>
                <a:latin typeface="Calibri"/>
              </a:rPr>
              <a:t>✂️</a:t>
            </a:r>
          </a:p>
        </p:txBody>
      </p:sp>
      <p:sp>
        <p:nvSpPr>
          <p:cNvPr id="21" name="TextBox 20"/>
          <p:cNvSpPr txBox="1"/>
          <p:nvPr/>
        </p:nvSpPr>
        <p:spPr>
          <a:xfrm>
            <a:off x="8686800" y="3172968"/>
            <a:ext cx="2926080" cy="365760"/>
          </a:xfrm>
          <a:prstGeom prst="rect">
            <a:avLst/>
          </a:prstGeom>
          <a:noFill/>
        </p:spPr>
        <p:txBody>
          <a:bodyPr wrap="square">
            <a:spAutoFit/>
          </a:bodyPr>
          <a:lstStyle/>
          <a:p>
            <a:pPr algn="l"/>
            <a:r>
              <a:rPr sz="1300" b="1" i="0">
                <a:solidFill>
                  <a:srgbClr val="FFFFFF"/>
                </a:solidFill>
                <a:latin typeface="Calibri"/>
              </a:rPr>
              <a:t>Smart Trim</a:t>
            </a:r>
          </a:p>
        </p:txBody>
      </p:sp>
      <p:sp>
        <p:nvSpPr>
          <p:cNvPr id="22" name="TextBox 21"/>
          <p:cNvSpPr txBox="1"/>
          <p:nvPr/>
        </p:nvSpPr>
        <p:spPr>
          <a:xfrm>
            <a:off x="8686800" y="3566160"/>
            <a:ext cx="2926080" cy="502920"/>
          </a:xfrm>
          <a:prstGeom prst="rect">
            <a:avLst/>
          </a:prstGeom>
          <a:noFill/>
        </p:spPr>
        <p:txBody>
          <a:bodyPr wrap="square">
            <a:spAutoFit/>
          </a:bodyPr>
          <a:lstStyle/>
          <a:p>
            <a:pPr algn="l"/>
            <a:r>
              <a:rPr sz="1100" b="0" i="0">
                <a:solidFill>
                  <a:srgbClr val="94A3B8"/>
                </a:solidFill>
                <a:latin typeface="Calibri"/>
              </a:rPr>
              <a:t>First 4000 chars sent to AI</a:t>
            </a:r>
          </a:p>
        </p:txBody>
      </p:sp>
      <p:sp>
        <p:nvSpPr>
          <p:cNvPr id="23" name="Rectangle 22"/>
          <p:cNvSpPr/>
          <p:nvPr/>
        </p:nvSpPr>
        <p:spPr>
          <a:xfrm>
            <a:off x="365760" y="4526280"/>
            <a:ext cx="3611880"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526280"/>
            <a:ext cx="274320"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709160"/>
            <a:ext cx="2926080" cy="457200"/>
          </a:xfrm>
          <a:prstGeom prst="rect">
            <a:avLst/>
          </a:prstGeom>
          <a:noFill/>
        </p:spPr>
        <p:txBody>
          <a:bodyPr wrap="square">
            <a:spAutoFit/>
          </a:bodyPr>
          <a:lstStyle/>
          <a:p>
            <a:pPr algn="l"/>
            <a:r>
              <a:rPr sz="2000" b="0" i="0">
                <a:solidFill>
                  <a:srgbClr val="10B981"/>
                </a:solidFill>
                <a:latin typeface="Calibri"/>
              </a:rPr>
              <a:t>🧠</a:t>
            </a:r>
          </a:p>
        </p:txBody>
      </p:sp>
      <p:sp>
        <p:nvSpPr>
          <p:cNvPr id="26" name="TextBox 25"/>
          <p:cNvSpPr txBox="1"/>
          <p:nvPr/>
        </p:nvSpPr>
        <p:spPr>
          <a:xfrm>
            <a:off x="822960" y="5184648"/>
            <a:ext cx="2926080" cy="365760"/>
          </a:xfrm>
          <a:prstGeom prst="rect">
            <a:avLst/>
          </a:prstGeom>
          <a:noFill/>
        </p:spPr>
        <p:txBody>
          <a:bodyPr wrap="square">
            <a:spAutoFit/>
          </a:bodyPr>
          <a:lstStyle/>
          <a:p>
            <a:pPr algn="l"/>
            <a:r>
              <a:rPr sz="1300" b="1" i="0">
                <a:solidFill>
                  <a:srgbClr val="FFFFFF"/>
                </a:solidFill>
                <a:latin typeface="Calibri"/>
              </a:rPr>
              <a:t>AI Analysis</a:t>
            </a:r>
          </a:p>
        </p:txBody>
      </p:sp>
      <p:sp>
        <p:nvSpPr>
          <p:cNvPr id="27" name="TextBox 26"/>
          <p:cNvSpPr txBox="1"/>
          <p:nvPr/>
        </p:nvSpPr>
        <p:spPr>
          <a:xfrm>
            <a:off x="822960" y="5577840"/>
            <a:ext cx="2926080" cy="502920"/>
          </a:xfrm>
          <a:prstGeom prst="rect">
            <a:avLst/>
          </a:prstGeom>
          <a:noFill/>
        </p:spPr>
        <p:txBody>
          <a:bodyPr wrap="square">
            <a:spAutoFit/>
          </a:bodyPr>
          <a:lstStyle/>
          <a:p>
            <a:pPr algn="l"/>
            <a:r>
              <a:rPr sz="1100" b="0" i="0">
                <a:solidFill>
                  <a:srgbClr val="94A3B8"/>
                </a:solidFill>
                <a:latin typeface="Calibri"/>
              </a:rPr>
              <a:t>Groq generates detailed summary</a:t>
            </a:r>
          </a:p>
        </p:txBody>
      </p:sp>
      <p:sp>
        <p:nvSpPr>
          <p:cNvPr id="28" name="Rectangle 27"/>
          <p:cNvSpPr/>
          <p:nvPr/>
        </p:nvSpPr>
        <p:spPr>
          <a:xfrm>
            <a:off x="4297680" y="4526280"/>
            <a:ext cx="3611880"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4526280"/>
            <a:ext cx="274320" cy="1737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4709160"/>
            <a:ext cx="2926080" cy="457200"/>
          </a:xfrm>
          <a:prstGeom prst="rect">
            <a:avLst/>
          </a:prstGeom>
          <a:noFill/>
        </p:spPr>
        <p:txBody>
          <a:bodyPr wrap="square">
            <a:spAutoFit/>
          </a:bodyPr>
          <a:lstStyle/>
          <a:p>
            <a:pPr algn="l"/>
            <a:r>
              <a:rPr sz="2000" b="0" i="0">
                <a:solidFill>
                  <a:srgbClr val="7C3AED"/>
                </a:solidFill>
                <a:latin typeface="Calibri"/>
              </a:rPr>
              <a:t>💬</a:t>
            </a:r>
          </a:p>
        </p:txBody>
      </p:sp>
      <p:sp>
        <p:nvSpPr>
          <p:cNvPr id="31" name="TextBox 30"/>
          <p:cNvSpPr txBox="1"/>
          <p:nvPr/>
        </p:nvSpPr>
        <p:spPr>
          <a:xfrm>
            <a:off x="4754880" y="5184648"/>
            <a:ext cx="2926080" cy="365760"/>
          </a:xfrm>
          <a:prstGeom prst="rect">
            <a:avLst/>
          </a:prstGeom>
          <a:noFill/>
        </p:spPr>
        <p:txBody>
          <a:bodyPr wrap="square">
            <a:spAutoFit/>
          </a:bodyPr>
          <a:lstStyle/>
          <a:p>
            <a:pPr algn="l"/>
            <a:r>
              <a:rPr sz="1300" b="1" i="0">
                <a:solidFill>
                  <a:srgbClr val="FFFFFF"/>
                </a:solidFill>
                <a:latin typeface="Calibri"/>
              </a:rPr>
              <a:t>Chat Response</a:t>
            </a:r>
          </a:p>
        </p:txBody>
      </p:sp>
      <p:sp>
        <p:nvSpPr>
          <p:cNvPr id="32" name="TextBox 31"/>
          <p:cNvSpPr txBox="1"/>
          <p:nvPr/>
        </p:nvSpPr>
        <p:spPr>
          <a:xfrm>
            <a:off x="4754880" y="5577840"/>
            <a:ext cx="2926080" cy="502920"/>
          </a:xfrm>
          <a:prstGeom prst="rect">
            <a:avLst/>
          </a:prstGeom>
          <a:noFill/>
        </p:spPr>
        <p:txBody>
          <a:bodyPr wrap="square">
            <a:spAutoFit/>
          </a:bodyPr>
          <a:lstStyle/>
          <a:p>
            <a:pPr algn="l"/>
            <a:r>
              <a:rPr sz="1100" b="0" i="0">
                <a:solidFill>
                  <a:srgbClr val="94A3B8"/>
                </a:solidFill>
                <a:latin typeface="Calibri"/>
              </a:rPr>
              <a:t>Result shown as AI bubble</a:t>
            </a:r>
          </a:p>
        </p:txBody>
      </p:sp>
      <p:sp>
        <p:nvSpPr>
          <p:cNvPr id="33" name="Rectangle 32"/>
          <p:cNvSpPr/>
          <p:nvPr/>
        </p:nvSpPr>
        <p:spPr>
          <a:xfrm>
            <a:off x="8229600" y="4526280"/>
            <a:ext cx="3611880"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0" y="4526280"/>
            <a:ext cx="274320" cy="1737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0" y="4709160"/>
            <a:ext cx="2926080" cy="457200"/>
          </a:xfrm>
          <a:prstGeom prst="rect">
            <a:avLst/>
          </a:prstGeom>
          <a:noFill/>
        </p:spPr>
        <p:txBody>
          <a:bodyPr wrap="square">
            <a:spAutoFit/>
          </a:bodyPr>
          <a:lstStyle/>
          <a:p>
            <a:pPr algn="l"/>
            <a:r>
              <a:rPr sz="2000" b="0" i="0">
                <a:solidFill>
                  <a:srgbClr val="1E40AF"/>
                </a:solidFill>
                <a:latin typeface="Calibri"/>
              </a:rPr>
              <a:t>📊</a:t>
            </a:r>
          </a:p>
        </p:txBody>
      </p:sp>
      <p:sp>
        <p:nvSpPr>
          <p:cNvPr id="36" name="TextBox 35"/>
          <p:cNvSpPr txBox="1"/>
          <p:nvPr/>
        </p:nvSpPr>
        <p:spPr>
          <a:xfrm>
            <a:off x="8686800" y="5184648"/>
            <a:ext cx="2926080" cy="365760"/>
          </a:xfrm>
          <a:prstGeom prst="rect">
            <a:avLst/>
          </a:prstGeom>
          <a:noFill/>
        </p:spPr>
        <p:txBody>
          <a:bodyPr wrap="square">
            <a:spAutoFit/>
          </a:bodyPr>
          <a:lstStyle/>
          <a:p>
            <a:pPr algn="l"/>
            <a:r>
              <a:rPr sz="1300" b="1" i="0">
                <a:solidFill>
                  <a:srgbClr val="FFFFFF"/>
                </a:solidFill>
                <a:latin typeface="Calibri"/>
              </a:rPr>
              <a:t>Multi-page</a:t>
            </a:r>
          </a:p>
        </p:txBody>
      </p:sp>
      <p:sp>
        <p:nvSpPr>
          <p:cNvPr id="37" name="TextBox 36"/>
          <p:cNvSpPr txBox="1"/>
          <p:nvPr/>
        </p:nvSpPr>
        <p:spPr>
          <a:xfrm>
            <a:off x="8686800" y="5577840"/>
            <a:ext cx="2926080" cy="502920"/>
          </a:xfrm>
          <a:prstGeom prst="rect">
            <a:avLst/>
          </a:prstGeom>
          <a:noFill/>
        </p:spPr>
        <p:txBody>
          <a:bodyPr wrap="square">
            <a:spAutoFit/>
          </a:bodyPr>
          <a:lstStyle/>
          <a:p>
            <a:pPr algn="l"/>
            <a:r>
              <a:rPr sz="1100" b="0" i="0">
                <a:solidFill>
                  <a:srgbClr val="94A3B8"/>
                </a:solidFill>
                <a:latin typeface="Calibri"/>
              </a:rPr>
              <a:t>Handles large documents easily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TECHNOLOGIES USED</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Complete software stack</a:t>
            </a:r>
          </a:p>
        </p:txBody>
      </p:sp>
      <p:sp>
        <p:nvSpPr>
          <p:cNvPr id="6" name="Rectangle 5"/>
          <p:cNvSpPr/>
          <p:nvPr/>
        </p:nvSpPr>
        <p:spPr>
          <a:xfrm>
            <a:off x="365760" y="141732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651760" cy="43891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472184"/>
            <a:ext cx="2423160" cy="347472"/>
          </a:xfrm>
          <a:prstGeom prst="rect">
            <a:avLst/>
          </a:prstGeom>
          <a:noFill/>
        </p:spPr>
        <p:txBody>
          <a:bodyPr wrap="square">
            <a:spAutoFit/>
          </a:bodyPr>
          <a:lstStyle/>
          <a:p>
            <a:pPr algn="ctr"/>
            <a:r>
              <a:rPr sz="1300" b="1" i="0">
                <a:solidFill>
                  <a:srgbClr val="FFFFFF"/>
                </a:solidFill>
                <a:latin typeface="Calibri"/>
              </a:rPr>
              <a:t>Python 3.x</a:t>
            </a:r>
          </a:p>
        </p:txBody>
      </p:sp>
      <p:sp>
        <p:nvSpPr>
          <p:cNvPr id="9" name="TextBox 8"/>
          <p:cNvSpPr txBox="1"/>
          <p:nvPr/>
        </p:nvSpPr>
        <p:spPr>
          <a:xfrm>
            <a:off x="475488" y="1984248"/>
            <a:ext cx="2423160" cy="365760"/>
          </a:xfrm>
          <a:prstGeom prst="rect">
            <a:avLst/>
          </a:prstGeom>
          <a:noFill/>
        </p:spPr>
        <p:txBody>
          <a:bodyPr wrap="square">
            <a:spAutoFit/>
          </a:bodyPr>
          <a:lstStyle/>
          <a:p>
            <a:pPr algn="ctr"/>
            <a:r>
              <a:rPr sz="1100" b="1" i="0">
                <a:solidFill>
                  <a:srgbClr val="1E40AF"/>
                </a:solidFill>
                <a:latin typeface="Calibri"/>
              </a:rPr>
              <a:t>Core programming language</a:t>
            </a:r>
          </a:p>
        </p:txBody>
      </p:sp>
      <p:sp>
        <p:nvSpPr>
          <p:cNvPr id="10" name="TextBox 9"/>
          <p:cNvSpPr txBox="1"/>
          <p:nvPr/>
        </p:nvSpPr>
        <p:spPr>
          <a:xfrm>
            <a:off x="475488" y="2377440"/>
            <a:ext cx="2423160" cy="1188720"/>
          </a:xfrm>
          <a:prstGeom prst="rect">
            <a:avLst/>
          </a:prstGeom>
          <a:noFill/>
        </p:spPr>
        <p:txBody>
          <a:bodyPr wrap="square">
            <a:spAutoFit/>
          </a:bodyPr>
          <a:lstStyle/>
          <a:p>
            <a:pPr algn="ctr"/>
            <a:r>
              <a:rPr sz="1100" b="0" i="0">
                <a:solidFill>
                  <a:srgbClr val="1E293B"/>
                </a:solidFill>
                <a:latin typeface="Calibri"/>
              </a:rPr>
              <a:t>General purpose, easy to use</a:t>
            </a:r>
          </a:p>
        </p:txBody>
      </p:sp>
      <p:sp>
        <p:nvSpPr>
          <p:cNvPr id="11" name="Rectangle 10"/>
          <p:cNvSpPr/>
          <p:nvPr/>
        </p:nvSpPr>
        <p:spPr>
          <a:xfrm>
            <a:off x="3291840" y="141732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417320"/>
            <a:ext cx="2651760" cy="43891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472184"/>
            <a:ext cx="2423160" cy="347472"/>
          </a:xfrm>
          <a:prstGeom prst="rect">
            <a:avLst/>
          </a:prstGeom>
          <a:noFill/>
        </p:spPr>
        <p:txBody>
          <a:bodyPr wrap="square">
            <a:spAutoFit/>
          </a:bodyPr>
          <a:lstStyle/>
          <a:p>
            <a:pPr algn="ctr"/>
            <a:r>
              <a:rPr sz="1300" b="1" i="0">
                <a:solidFill>
                  <a:srgbClr val="FFFFFF"/>
                </a:solidFill>
                <a:latin typeface="Calibri"/>
              </a:rPr>
              <a:t>CustomTkinter</a:t>
            </a:r>
          </a:p>
        </p:txBody>
      </p:sp>
      <p:sp>
        <p:nvSpPr>
          <p:cNvPr id="14" name="TextBox 13"/>
          <p:cNvSpPr txBox="1"/>
          <p:nvPr/>
        </p:nvSpPr>
        <p:spPr>
          <a:xfrm>
            <a:off x="3401568" y="1984248"/>
            <a:ext cx="2423160" cy="365760"/>
          </a:xfrm>
          <a:prstGeom prst="rect">
            <a:avLst/>
          </a:prstGeom>
          <a:noFill/>
        </p:spPr>
        <p:txBody>
          <a:bodyPr wrap="square">
            <a:spAutoFit/>
          </a:bodyPr>
          <a:lstStyle/>
          <a:p>
            <a:pPr algn="ctr"/>
            <a:r>
              <a:rPr sz="1100" b="1" i="0">
                <a:solidFill>
                  <a:srgbClr val="06B6D4"/>
                </a:solidFill>
                <a:latin typeface="Calibri"/>
              </a:rPr>
              <a:t>Modern UI framework</a:t>
            </a:r>
          </a:p>
        </p:txBody>
      </p:sp>
      <p:sp>
        <p:nvSpPr>
          <p:cNvPr id="15" name="TextBox 14"/>
          <p:cNvSpPr txBox="1"/>
          <p:nvPr/>
        </p:nvSpPr>
        <p:spPr>
          <a:xfrm>
            <a:off x="3401568" y="2377440"/>
            <a:ext cx="2423160" cy="1188720"/>
          </a:xfrm>
          <a:prstGeom prst="rect">
            <a:avLst/>
          </a:prstGeom>
          <a:noFill/>
        </p:spPr>
        <p:txBody>
          <a:bodyPr wrap="square">
            <a:spAutoFit/>
          </a:bodyPr>
          <a:lstStyle/>
          <a:p>
            <a:pPr algn="ctr"/>
            <a:r>
              <a:rPr sz="1100" b="0" i="0">
                <a:solidFill>
                  <a:srgbClr val="1E293B"/>
                </a:solidFill>
                <a:latin typeface="Calibri"/>
              </a:rPr>
              <a:t>Beautiful desktop GUI</a:t>
            </a:r>
          </a:p>
        </p:txBody>
      </p:sp>
      <p:sp>
        <p:nvSpPr>
          <p:cNvPr id="16" name="Rectangle 15"/>
          <p:cNvSpPr/>
          <p:nvPr/>
        </p:nvSpPr>
        <p:spPr>
          <a:xfrm>
            <a:off x="6217920" y="141732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417320"/>
            <a:ext cx="2651760" cy="43891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1472184"/>
            <a:ext cx="2423160" cy="347472"/>
          </a:xfrm>
          <a:prstGeom prst="rect">
            <a:avLst/>
          </a:prstGeom>
          <a:noFill/>
        </p:spPr>
        <p:txBody>
          <a:bodyPr wrap="square">
            <a:spAutoFit/>
          </a:bodyPr>
          <a:lstStyle/>
          <a:p>
            <a:pPr algn="ctr"/>
            <a:r>
              <a:rPr sz="1300" b="1" i="0">
                <a:solidFill>
                  <a:srgbClr val="FFFFFF"/>
                </a:solidFill>
                <a:latin typeface="Calibri"/>
              </a:rPr>
              <a:t>Groq Cloud API</a:t>
            </a:r>
          </a:p>
        </p:txBody>
      </p:sp>
      <p:sp>
        <p:nvSpPr>
          <p:cNvPr id="19" name="TextBox 18"/>
          <p:cNvSpPr txBox="1"/>
          <p:nvPr/>
        </p:nvSpPr>
        <p:spPr>
          <a:xfrm>
            <a:off x="6327648" y="1984248"/>
            <a:ext cx="2423160" cy="365760"/>
          </a:xfrm>
          <a:prstGeom prst="rect">
            <a:avLst/>
          </a:prstGeom>
          <a:noFill/>
        </p:spPr>
        <p:txBody>
          <a:bodyPr wrap="square">
            <a:spAutoFit/>
          </a:bodyPr>
          <a:lstStyle/>
          <a:p>
            <a:pPr algn="ctr"/>
            <a:r>
              <a:rPr sz="1100" b="1" i="0">
                <a:solidFill>
                  <a:srgbClr val="10B981"/>
                </a:solidFill>
                <a:latin typeface="Calibri"/>
              </a:rPr>
              <a:t>AI inference engine</a:t>
            </a:r>
          </a:p>
        </p:txBody>
      </p:sp>
      <p:sp>
        <p:nvSpPr>
          <p:cNvPr id="20" name="TextBox 19"/>
          <p:cNvSpPr txBox="1"/>
          <p:nvPr/>
        </p:nvSpPr>
        <p:spPr>
          <a:xfrm>
            <a:off x="6327648" y="2377440"/>
            <a:ext cx="2423160" cy="1188720"/>
          </a:xfrm>
          <a:prstGeom prst="rect">
            <a:avLst/>
          </a:prstGeom>
          <a:noFill/>
        </p:spPr>
        <p:txBody>
          <a:bodyPr wrap="square">
            <a:spAutoFit/>
          </a:bodyPr>
          <a:lstStyle/>
          <a:p>
            <a:pPr algn="ctr"/>
            <a:r>
              <a:rPr sz="1100" b="0" i="0">
                <a:solidFill>
                  <a:srgbClr val="1E293B"/>
                </a:solidFill>
                <a:latin typeface="Calibri"/>
              </a:rPr>
              <a:t>Ultra-fast LLM responses</a:t>
            </a:r>
          </a:p>
        </p:txBody>
      </p:sp>
      <p:sp>
        <p:nvSpPr>
          <p:cNvPr id="21" name="Rectangle 20"/>
          <p:cNvSpPr/>
          <p:nvPr/>
        </p:nvSpPr>
        <p:spPr>
          <a:xfrm>
            <a:off x="9144000" y="141732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417320"/>
            <a:ext cx="2651760" cy="43891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3728" y="1472184"/>
            <a:ext cx="2423160" cy="347472"/>
          </a:xfrm>
          <a:prstGeom prst="rect">
            <a:avLst/>
          </a:prstGeom>
          <a:noFill/>
        </p:spPr>
        <p:txBody>
          <a:bodyPr wrap="square">
            <a:spAutoFit/>
          </a:bodyPr>
          <a:lstStyle/>
          <a:p>
            <a:pPr algn="ctr"/>
            <a:r>
              <a:rPr sz="1300" b="1" i="0">
                <a:solidFill>
                  <a:srgbClr val="FFFFFF"/>
                </a:solidFill>
                <a:latin typeface="Calibri"/>
              </a:rPr>
              <a:t>Llama-3.3-70B</a:t>
            </a:r>
          </a:p>
        </p:txBody>
      </p:sp>
      <p:sp>
        <p:nvSpPr>
          <p:cNvPr id="24" name="TextBox 23"/>
          <p:cNvSpPr txBox="1"/>
          <p:nvPr/>
        </p:nvSpPr>
        <p:spPr>
          <a:xfrm>
            <a:off x="9253728" y="1984248"/>
            <a:ext cx="2423160" cy="365760"/>
          </a:xfrm>
          <a:prstGeom prst="rect">
            <a:avLst/>
          </a:prstGeom>
          <a:noFill/>
        </p:spPr>
        <p:txBody>
          <a:bodyPr wrap="square">
            <a:spAutoFit/>
          </a:bodyPr>
          <a:lstStyle/>
          <a:p>
            <a:pPr algn="ctr"/>
            <a:r>
              <a:rPr sz="1100" b="1" i="0">
                <a:solidFill>
                  <a:srgbClr val="F59E0B"/>
                </a:solidFill>
                <a:latin typeface="Calibri"/>
              </a:rPr>
              <a:t>Open source AI model</a:t>
            </a:r>
          </a:p>
        </p:txBody>
      </p:sp>
      <p:sp>
        <p:nvSpPr>
          <p:cNvPr id="25" name="TextBox 24"/>
          <p:cNvSpPr txBox="1"/>
          <p:nvPr/>
        </p:nvSpPr>
        <p:spPr>
          <a:xfrm>
            <a:off x="9253728" y="2377440"/>
            <a:ext cx="2423160" cy="1188720"/>
          </a:xfrm>
          <a:prstGeom prst="rect">
            <a:avLst/>
          </a:prstGeom>
          <a:noFill/>
        </p:spPr>
        <p:txBody>
          <a:bodyPr wrap="square">
            <a:spAutoFit/>
          </a:bodyPr>
          <a:lstStyle/>
          <a:p>
            <a:pPr algn="ctr"/>
            <a:r>
              <a:rPr sz="1100" b="0" i="0">
                <a:solidFill>
                  <a:srgbClr val="1E293B"/>
                </a:solidFill>
                <a:latin typeface="Calibri"/>
              </a:rPr>
              <a:t>70 billion parameter LLM</a:t>
            </a:r>
          </a:p>
        </p:txBody>
      </p:sp>
      <p:sp>
        <p:nvSpPr>
          <p:cNvPr id="26" name="Rectangle 25"/>
          <p:cNvSpPr/>
          <p:nvPr/>
        </p:nvSpPr>
        <p:spPr>
          <a:xfrm>
            <a:off x="365760" y="402336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023360"/>
            <a:ext cx="2651760"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4078224"/>
            <a:ext cx="2423160" cy="347472"/>
          </a:xfrm>
          <a:prstGeom prst="rect">
            <a:avLst/>
          </a:prstGeom>
          <a:noFill/>
        </p:spPr>
        <p:txBody>
          <a:bodyPr wrap="square">
            <a:spAutoFit/>
          </a:bodyPr>
          <a:lstStyle/>
          <a:p>
            <a:pPr algn="ctr"/>
            <a:r>
              <a:rPr sz="1300" b="1" i="0">
                <a:solidFill>
                  <a:srgbClr val="FFFFFF"/>
                </a:solidFill>
                <a:latin typeface="Calibri"/>
              </a:rPr>
              <a:t>pyttsx3</a:t>
            </a:r>
          </a:p>
        </p:txBody>
      </p:sp>
      <p:sp>
        <p:nvSpPr>
          <p:cNvPr id="29" name="TextBox 28"/>
          <p:cNvSpPr txBox="1"/>
          <p:nvPr/>
        </p:nvSpPr>
        <p:spPr>
          <a:xfrm>
            <a:off x="475488" y="4590288"/>
            <a:ext cx="2423160" cy="365760"/>
          </a:xfrm>
          <a:prstGeom prst="rect">
            <a:avLst/>
          </a:prstGeom>
          <a:noFill/>
        </p:spPr>
        <p:txBody>
          <a:bodyPr wrap="square">
            <a:spAutoFit/>
          </a:bodyPr>
          <a:lstStyle/>
          <a:p>
            <a:pPr algn="ctr"/>
            <a:r>
              <a:rPr sz="1100" b="1" i="0">
                <a:solidFill>
                  <a:srgbClr val="7C3AED"/>
                </a:solidFill>
                <a:latin typeface="Calibri"/>
              </a:rPr>
              <a:t>Text-to-speech library</a:t>
            </a:r>
          </a:p>
        </p:txBody>
      </p:sp>
      <p:sp>
        <p:nvSpPr>
          <p:cNvPr id="30" name="TextBox 29"/>
          <p:cNvSpPr txBox="1"/>
          <p:nvPr/>
        </p:nvSpPr>
        <p:spPr>
          <a:xfrm>
            <a:off x="475488" y="4983480"/>
            <a:ext cx="2423160" cy="1188720"/>
          </a:xfrm>
          <a:prstGeom prst="rect">
            <a:avLst/>
          </a:prstGeom>
          <a:noFill/>
        </p:spPr>
        <p:txBody>
          <a:bodyPr wrap="square">
            <a:spAutoFit/>
          </a:bodyPr>
          <a:lstStyle/>
          <a:p>
            <a:pPr algn="ctr"/>
            <a:r>
              <a:rPr sz="1100" b="0" i="0">
                <a:solidFill>
                  <a:srgbClr val="1E293B"/>
                </a:solidFill>
                <a:latin typeface="Calibri"/>
              </a:rPr>
              <a:t>Offline speech synthesis</a:t>
            </a:r>
          </a:p>
        </p:txBody>
      </p:sp>
      <p:sp>
        <p:nvSpPr>
          <p:cNvPr id="31" name="Rectangle 30"/>
          <p:cNvSpPr/>
          <p:nvPr/>
        </p:nvSpPr>
        <p:spPr>
          <a:xfrm>
            <a:off x="3291840" y="402336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4023360"/>
            <a:ext cx="2651760" cy="43891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1568" y="4078224"/>
            <a:ext cx="2423160" cy="347472"/>
          </a:xfrm>
          <a:prstGeom prst="rect">
            <a:avLst/>
          </a:prstGeom>
          <a:noFill/>
        </p:spPr>
        <p:txBody>
          <a:bodyPr wrap="square">
            <a:spAutoFit/>
          </a:bodyPr>
          <a:lstStyle/>
          <a:p>
            <a:pPr algn="ctr"/>
            <a:r>
              <a:rPr sz="1300" b="1" i="0">
                <a:solidFill>
                  <a:srgbClr val="FFFFFF"/>
                </a:solidFill>
                <a:latin typeface="Calibri"/>
              </a:rPr>
              <a:t>SpeechRecognition</a:t>
            </a:r>
          </a:p>
        </p:txBody>
      </p:sp>
      <p:sp>
        <p:nvSpPr>
          <p:cNvPr id="34" name="TextBox 33"/>
          <p:cNvSpPr txBox="1"/>
          <p:nvPr/>
        </p:nvSpPr>
        <p:spPr>
          <a:xfrm>
            <a:off x="3401568" y="4590288"/>
            <a:ext cx="2423160" cy="365760"/>
          </a:xfrm>
          <a:prstGeom prst="rect">
            <a:avLst/>
          </a:prstGeom>
          <a:noFill/>
        </p:spPr>
        <p:txBody>
          <a:bodyPr wrap="square">
            <a:spAutoFit/>
          </a:bodyPr>
          <a:lstStyle/>
          <a:p>
            <a:pPr algn="ctr"/>
            <a:r>
              <a:rPr sz="1100" b="1" i="0">
                <a:solidFill>
                  <a:srgbClr val="EF4444"/>
                </a:solidFill>
                <a:latin typeface="Calibri"/>
              </a:rPr>
              <a:t>Voice input library</a:t>
            </a:r>
          </a:p>
        </p:txBody>
      </p:sp>
      <p:sp>
        <p:nvSpPr>
          <p:cNvPr id="35" name="TextBox 34"/>
          <p:cNvSpPr txBox="1"/>
          <p:nvPr/>
        </p:nvSpPr>
        <p:spPr>
          <a:xfrm>
            <a:off x="3401568" y="4983480"/>
            <a:ext cx="2423160" cy="1188720"/>
          </a:xfrm>
          <a:prstGeom prst="rect">
            <a:avLst/>
          </a:prstGeom>
          <a:noFill/>
        </p:spPr>
        <p:txBody>
          <a:bodyPr wrap="square">
            <a:spAutoFit/>
          </a:bodyPr>
          <a:lstStyle/>
          <a:p>
            <a:pPr algn="ctr"/>
            <a:r>
              <a:rPr sz="1100" b="0" i="0">
                <a:solidFill>
                  <a:srgbClr val="1E293B"/>
                </a:solidFill>
                <a:latin typeface="Calibri"/>
              </a:rPr>
              <a:t>Google Speech API bridge</a:t>
            </a:r>
          </a:p>
        </p:txBody>
      </p:sp>
      <p:sp>
        <p:nvSpPr>
          <p:cNvPr id="36" name="Rectangle 35"/>
          <p:cNvSpPr/>
          <p:nvPr/>
        </p:nvSpPr>
        <p:spPr>
          <a:xfrm>
            <a:off x="6217920" y="402336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0" y="4023360"/>
            <a:ext cx="2651760" cy="43891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27648" y="4078224"/>
            <a:ext cx="2423160" cy="347472"/>
          </a:xfrm>
          <a:prstGeom prst="rect">
            <a:avLst/>
          </a:prstGeom>
          <a:noFill/>
        </p:spPr>
        <p:txBody>
          <a:bodyPr wrap="square">
            <a:spAutoFit/>
          </a:bodyPr>
          <a:lstStyle/>
          <a:p>
            <a:pPr algn="ctr"/>
            <a:r>
              <a:rPr sz="1300" b="1" i="0">
                <a:solidFill>
                  <a:srgbClr val="FFFFFF"/>
                </a:solidFill>
                <a:latin typeface="Calibri"/>
              </a:rPr>
              <a:t>pypdf</a:t>
            </a:r>
          </a:p>
        </p:txBody>
      </p:sp>
      <p:sp>
        <p:nvSpPr>
          <p:cNvPr id="39" name="TextBox 38"/>
          <p:cNvSpPr txBox="1"/>
          <p:nvPr/>
        </p:nvSpPr>
        <p:spPr>
          <a:xfrm>
            <a:off x="6327648" y="4590288"/>
            <a:ext cx="2423160" cy="365760"/>
          </a:xfrm>
          <a:prstGeom prst="rect">
            <a:avLst/>
          </a:prstGeom>
          <a:noFill/>
        </p:spPr>
        <p:txBody>
          <a:bodyPr wrap="square">
            <a:spAutoFit/>
          </a:bodyPr>
          <a:lstStyle/>
          <a:p>
            <a:pPr algn="ctr"/>
            <a:r>
              <a:rPr sz="1100" b="1" i="0">
                <a:solidFill>
                  <a:srgbClr val="F97316"/>
                </a:solidFill>
                <a:latin typeface="Calibri"/>
              </a:rPr>
              <a:t>PDF processing</a:t>
            </a:r>
          </a:p>
        </p:txBody>
      </p:sp>
      <p:sp>
        <p:nvSpPr>
          <p:cNvPr id="40" name="TextBox 39"/>
          <p:cNvSpPr txBox="1"/>
          <p:nvPr/>
        </p:nvSpPr>
        <p:spPr>
          <a:xfrm>
            <a:off x="6327648" y="4983480"/>
            <a:ext cx="2423160" cy="1188720"/>
          </a:xfrm>
          <a:prstGeom prst="rect">
            <a:avLst/>
          </a:prstGeom>
          <a:noFill/>
        </p:spPr>
        <p:txBody>
          <a:bodyPr wrap="square">
            <a:spAutoFit/>
          </a:bodyPr>
          <a:lstStyle/>
          <a:p>
            <a:pPr algn="ctr"/>
            <a:r>
              <a:rPr sz="1100" b="0" i="0">
                <a:solidFill>
                  <a:srgbClr val="1E293B"/>
                </a:solidFill>
                <a:latin typeface="Calibri"/>
              </a:rPr>
              <a:t>Text extraction from PDFs</a:t>
            </a:r>
          </a:p>
        </p:txBody>
      </p:sp>
      <p:sp>
        <p:nvSpPr>
          <p:cNvPr id="41" name="Rectangle 40"/>
          <p:cNvSpPr/>
          <p:nvPr/>
        </p:nvSpPr>
        <p:spPr>
          <a:xfrm>
            <a:off x="9144000" y="4023360"/>
            <a:ext cx="26517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44000" y="4023360"/>
            <a:ext cx="2651760" cy="43891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53728" y="4078224"/>
            <a:ext cx="2423160" cy="347472"/>
          </a:xfrm>
          <a:prstGeom prst="rect">
            <a:avLst/>
          </a:prstGeom>
          <a:noFill/>
        </p:spPr>
        <p:txBody>
          <a:bodyPr wrap="square">
            <a:spAutoFit/>
          </a:bodyPr>
          <a:lstStyle/>
          <a:p>
            <a:pPr algn="ctr"/>
            <a:r>
              <a:rPr sz="1300" b="1" i="0">
                <a:solidFill>
                  <a:srgbClr val="FFFFFF"/>
                </a:solidFill>
                <a:latin typeface="Calibri"/>
              </a:rPr>
              <a:t>Requests / JSON</a:t>
            </a:r>
          </a:p>
        </p:txBody>
      </p:sp>
      <p:sp>
        <p:nvSpPr>
          <p:cNvPr id="44" name="TextBox 43"/>
          <p:cNvSpPr txBox="1"/>
          <p:nvPr/>
        </p:nvSpPr>
        <p:spPr>
          <a:xfrm>
            <a:off x="9253728" y="4590288"/>
            <a:ext cx="2423160" cy="365760"/>
          </a:xfrm>
          <a:prstGeom prst="rect">
            <a:avLst/>
          </a:prstGeom>
          <a:noFill/>
        </p:spPr>
        <p:txBody>
          <a:bodyPr wrap="square">
            <a:spAutoFit/>
          </a:bodyPr>
          <a:lstStyle/>
          <a:p>
            <a:pPr algn="ctr"/>
            <a:r>
              <a:rPr sz="1100" b="1" i="0">
                <a:solidFill>
                  <a:srgbClr val="94A3B8"/>
                </a:solidFill>
                <a:latin typeface="Calibri"/>
              </a:rPr>
              <a:t>HTTP &amp; data storage</a:t>
            </a:r>
          </a:p>
        </p:txBody>
      </p:sp>
      <p:sp>
        <p:nvSpPr>
          <p:cNvPr id="45" name="TextBox 44"/>
          <p:cNvSpPr txBox="1"/>
          <p:nvPr/>
        </p:nvSpPr>
        <p:spPr>
          <a:xfrm>
            <a:off x="9253728" y="4983480"/>
            <a:ext cx="2423160" cy="1188720"/>
          </a:xfrm>
          <a:prstGeom prst="rect">
            <a:avLst/>
          </a:prstGeom>
          <a:noFill/>
        </p:spPr>
        <p:txBody>
          <a:bodyPr wrap="square">
            <a:spAutoFit/>
          </a:bodyPr>
          <a:lstStyle/>
          <a:p>
            <a:pPr algn="ctr"/>
            <a:r>
              <a:rPr sz="1100" b="0" i="0">
                <a:solidFill>
                  <a:srgbClr val="1E293B"/>
                </a:solidFill>
                <a:latin typeface="Calibri"/>
              </a:rPr>
              <a:t>API calls and session save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IMPLEMENTATION METHODOLOGY</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Structured development process</a:t>
            </a:r>
          </a:p>
        </p:txBody>
      </p:sp>
      <p:sp>
        <p:nvSpPr>
          <p:cNvPr id="6" name="Oval 5"/>
          <p:cNvSpPr/>
          <p:nvPr/>
        </p:nvSpPr>
        <p:spPr>
          <a:xfrm>
            <a:off x="960120" y="1508760"/>
            <a:ext cx="1188720" cy="118872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72768"/>
            <a:ext cx="1188720" cy="1060704"/>
          </a:xfrm>
          <a:prstGeom prst="rect">
            <a:avLst/>
          </a:prstGeom>
          <a:noFill/>
        </p:spPr>
        <p:txBody>
          <a:bodyPr wrap="square">
            <a:spAutoFit/>
          </a:bodyPr>
          <a:lstStyle/>
          <a:p>
            <a:pPr algn="ctr"/>
            <a:r>
              <a:rPr sz="2800" b="1" i="0">
                <a:solidFill>
                  <a:srgbClr val="FFFFFF"/>
                </a:solidFill>
                <a:latin typeface="Calibri"/>
              </a:rPr>
              <a:t>1</a:t>
            </a:r>
          </a:p>
        </p:txBody>
      </p:sp>
      <p:sp>
        <p:nvSpPr>
          <p:cNvPr id="8" name="Rectangle 7"/>
          <p:cNvSpPr/>
          <p:nvPr/>
        </p:nvSpPr>
        <p:spPr>
          <a:xfrm>
            <a:off x="2194560" y="2011680"/>
            <a:ext cx="50292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880360"/>
            <a:ext cx="2103120" cy="1554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880360"/>
            <a:ext cx="210312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26080"/>
            <a:ext cx="1920240" cy="384048"/>
          </a:xfrm>
          <a:prstGeom prst="rect">
            <a:avLst/>
          </a:prstGeom>
          <a:noFill/>
        </p:spPr>
        <p:txBody>
          <a:bodyPr wrap="square">
            <a:spAutoFit/>
          </a:bodyPr>
          <a:lstStyle/>
          <a:p>
            <a:pPr algn="ctr"/>
            <a:r>
              <a:rPr sz="1200" b="1" i="0">
                <a:solidFill>
                  <a:srgbClr val="FFFFFF"/>
                </a:solidFill>
                <a:latin typeface="Calibri"/>
              </a:rPr>
              <a:t>Requirement
Analysis</a:t>
            </a:r>
          </a:p>
        </p:txBody>
      </p:sp>
      <p:sp>
        <p:nvSpPr>
          <p:cNvPr id="12" name="TextBox 11"/>
          <p:cNvSpPr txBox="1"/>
          <p:nvPr/>
        </p:nvSpPr>
        <p:spPr>
          <a:xfrm>
            <a:off x="457200" y="3364992"/>
            <a:ext cx="1920240" cy="914400"/>
          </a:xfrm>
          <a:prstGeom prst="rect">
            <a:avLst/>
          </a:prstGeom>
          <a:noFill/>
        </p:spPr>
        <p:txBody>
          <a:bodyPr wrap="square">
            <a:spAutoFit/>
          </a:bodyPr>
          <a:lstStyle/>
          <a:p>
            <a:pPr algn="ctr"/>
            <a:r>
              <a:rPr sz="1100" b="0" i="0">
                <a:solidFill>
                  <a:srgbClr val="F1F5F9"/>
                </a:solidFill>
                <a:latin typeface="Calibri"/>
              </a:rPr>
              <a:t>Understand user needs,
define features &amp; scope</a:t>
            </a:r>
          </a:p>
        </p:txBody>
      </p:sp>
      <p:sp>
        <p:nvSpPr>
          <p:cNvPr id="13" name="Oval 12"/>
          <p:cNvSpPr/>
          <p:nvPr/>
        </p:nvSpPr>
        <p:spPr>
          <a:xfrm>
            <a:off x="3291839" y="1508760"/>
            <a:ext cx="1188720" cy="118872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39" y="1572768"/>
            <a:ext cx="1188720" cy="1060704"/>
          </a:xfrm>
          <a:prstGeom prst="rect">
            <a:avLst/>
          </a:prstGeom>
          <a:noFill/>
        </p:spPr>
        <p:txBody>
          <a:bodyPr wrap="square">
            <a:spAutoFit/>
          </a:bodyPr>
          <a:lstStyle/>
          <a:p>
            <a:pPr algn="ctr"/>
            <a:r>
              <a:rPr sz="2800" b="1" i="0">
                <a:solidFill>
                  <a:srgbClr val="FFFFFF"/>
                </a:solidFill>
                <a:latin typeface="Calibri"/>
              </a:rPr>
              <a:t>2</a:t>
            </a:r>
          </a:p>
        </p:txBody>
      </p:sp>
      <p:sp>
        <p:nvSpPr>
          <p:cNvPr id="15" name="Rectangle 14"/>
          <p:cNvSpPr/>
          <p:nvPr/>
        </p:nvSpPr>
        <p:spPr>
          <a:xfrm>
            <a:off x="4526279" y="2011680"/>
            <a:ext cx="50292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97479" y="2880360"/>
            <a:ext cx="2103120" cy="1554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79" y="2880360"/>
            <a:ext cx="210312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8920" y="2926080"/>
            <a:ext cx="1920240" cy="384048"/>
          </a:xfrm>
          <a:prstGeom prst="rect">
            <a:avLst/>
          </a:prstGeom>
          <a:noFill/>
        </p:spPr>
        <p:txBody>
          <a:bodyPr wrap="square">
            <a:spAutoFit/>
          </a:bodyPr>
          <a:lstStyle/>
          <a:p>
            <a:pPr algn="ctr"/>
            <a:r>
              <a:rPr sz="1200" b="1" i="0">
                <a:solidFill>
                  <a:srgbClr val="FFFFFF"/>
                </a:solidFill>
                <a:latin typeface="Calibri"/>
              </a:rPr>
              <a:t>System
Design</a:t>
            </a:r>
          </a:p>
        </p:txBody>
      </p:sp>
      <p:sp>
        <p:nvSpPr>
          <p:cNvPr id="19" name="TextBox 18"/>
          <p:cNvSpPr txBox="1"/>
          <p:nvPr/>
        </p:nvSpPr>
        <p:spPr>
          <a:xfrm>
            <a:off x="2788920" y="3364992"/>
            <a:ext cx="1920240" cy="914400"/>
          </a:xfrm>
          <a:prstGeom prst="rect">
            <a:avLst/>
          </a:prstGeom>
          <a:noFill/>
        </p:spPr>
        <p:txBody>
          <a:bodyPr wrap="square">
            <a:spAutoFit/>
          </a:bodyPr>
          <a:lstStyle/>
          <a:p>
            <a:pPr algn="ctr"/>
            <a:r>
              <a:rPr sz="1100" b="0" i="0">
                <a:solidFill>
                  <a:srgbClr val="F1F5F9"/>
                </a:solidFill>
                <a:latin typeface="Calibri"/>
              </a:rPr>
              <a:t>Create architecture,
UI mockups &amp; modules</a:t>
            </a:r>
          </a:p>
        </p:txBody>
      </p:sp>
      <p:sp>
        <p:nvSpPr>
          <p:cNvPr id="20" name="Oval 19"/>
          <p:cNvSpPr/>
          <p:nvPr/>
        </p:nvSpPr>
        <p:spPr>
          <a:xfrm>
            <a:off x="5623560" y="1508760"/>
            <a:ext cx="1188720" cy="11887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0" y="1572768"/>
            <a:ext cx="1188720" cy="1060704"/>
          </a:xfrm>
          <a:prstGeom prst="rect">
            <a:avLst/>
          </a:prstGeom>
          <a:noFill/>
        </p:spPr>
        <p:txBody>
          <a:bodyPr wrap="square">
            <a:spAutoFit/>
          </a:bodyPr>
          <a:lstStyle/>
          <a:p>
            <a:pPr algn="ctr"/>
            <a:r>
              <a:rPr sz="2800" b="1" i="0">
                <a:solidFill>
                  <a:srgbClr val="FFFFFF"/>
                </a:solidFill>
                <a:latin typeface="Calibri"/>
              </a:rPr>
              <a:t>3</a:t>
            </a:r>
          </a:p>
        </p:txBody>
      </p:sp>
      <p:sp>
        <p:nvSpPr>
          <p:cNvPr id="22" name="Rectangle 21"/>
          <p:cNvSpPr/>
          <p:nvPr/>
        </p:nvSpPr>
        <p:spPr>
          <a:xfrm>
            <a:off x="6858000" y="2011680"/>
            <a:ext cx="50292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0" y="2880360"/>
            <a:ext cx="2103120" cy="1554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0" y="2880360"/>
            <a:ext cx="210312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2926080"/>
            <a:ext cx="1920240" cy="384048"/>
          </a:xfrm>
          <a:prstGeom prst="rect">
            <a:avLst/>
          </a:prstGeom>
          <a:noFill/>
        </p:spPr>
        <p:txBody>
          <a:bodyPr wrap="square">
            <a:spAutoFit/>
          </a:bodyPr>
          <a:lstStyle/>
          <a:p>
            <a:pPr algn="ctr"/>
            <a:r>
              <a:rPr sz="1200" b="1" i="0">
                <a:solidFill>
                  <a:srgbClr val="FFFFFF"/>
                </a:solidFill>
                <a:latin typeface="Calibri"/>
              </a:rPr>
              <a:t>Development</a:t>
            </a:r>
          </a:p>
        </p:txBody>
      </p:sp>
      <p:sp>
        <p:nvSpPr>
          <p:cNvPr id="26" name="TextBox 25"/>
          <p:cNvSpPr txBox="1"/>
          <p:nvPr/>
        </p:nvSpPr>
        <p:spPr>
          <a:xfrm>
            <a:off x="5120640" y="3364992"/>
            <a:ext cx="1920240" cy="914400"/>
          </a:xfrm>
          <a:prstGeom prst="rect">
            <a:avLst/>
          </a:prstGeom>
          <a:noFill/>
        </p:spPr>
        <p:txBody>
          <a:bodyPr wrap="square">
            <a:spAutoFit/>
          </a:bodyPr>
          <a:lstStyle/>
          <a:p>
            <a:pPr algn="ctr"/>
            <a:r>
              <a:rPr sz="1100" b="0" i="0">
                <a:solidFill>
                  <a:srgbClr val="F1F5F9"/>
                </a:solidFill>
                <a:latin typeface="Calibri"/>
              </a:rPr>
              <a:t>Implement all features
with Python &amp; APIs</a:t>
            </a:r>
          </a:p>
        </p:txBody>
      </p:sp>
      <p:sp>
        <p:nvSpPr>
          <p:cNvPr id="27" name="Oval 26"/>
          <p:cNvSpPr/>
          <p:nvPr/>
        </p:nvSpPr>
        <p:spPr>
          <a:xfrm>
            <a:off x="7955279" y="1508760"/>
            <a:ext cx="1188720" cy="11887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79" y="1572768"/>
            <a:ext cx="1188720" cy="1060704"/>
          </a:xfrm>
          <a:prstGeom prst="rect">
            <a:avLst/>
          </a:prstGeom>
          <a:noFill/>
        </p:spPr>
        <p:txBody>
          <a:bodyPr wrap="square">
            <a:spAutoFit/>
          </a:bodyPr>
          <a:lstStyle/>
          <a:p>
            <a:pPr algn="ctr"/>
            <a:r>
              <a:rPr sz="2800" b="1" i="0">
                <a:solidFill>
                  <a:srgbClr val="FFFFFF"/>
                </a:solidFill>
                <a:latin typeface="Calibri"/>
              </a:rPr>
              <a:t>4</a:t>
            </a:r>
          </a:p>
        </p:txBody>
      </p:sp>
      <p:sp>
        <p:nvSpPr>
          <p:cNvPr id="29" name="Rectangle 28"/>
          <p:cNvSpPr/>
          <p:nvPr/>
        </p:nvSpPr>
        <p:spPr>
          <a:xfrm>
            <a:off x="9189719" y="2011680"/>
            <a:ext cx="50292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60919" y="2880360"/>
            <a:ext cx="2103120" cy="1554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0919" y="2880360"/>
            <a:ext cx="210312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59" y="2926080"/>
            <a:ext cx="1920240" cy="384048"/>
          </a:xfrm>
          <a:prstGeom prst="rect">
            <a:avLst/>
          </a:prstGeom>
          <a:noFill/>
        </p:spPr>
        <p:txBody>
          <a:bodyPr wrap="square">
            <a:spAutoFit/>
          </a:bodyPr>
          <a:lstStyle/>
          <a:p>
            <a:pPr algn="ctr"/>
            <a:r>
              <a:rPr sz="1200" b="1" i="0">
                <a:solidFill>
                  <a:srgbClr val="FFFFFF"/>
                </a:solidFill>
                <a:latin typeface="Calibri"/>
              </a:rPr>
              <a:t>Testing</a:t>
            </a:r>
          </a:p>
        </p:txBody>
      </p:sp>
      <p:sp>
        <p:nvSpPr>
          <p:cNvPr id="33" name="TextBox 32"/>
          <p:cNvSpPr txBox="1"/>
          <p:nvPr/>
        </p:nvSpPr>
        <p:spPr>
          <a:xfrm>
            <a:off x="7452359" y="3364992"/>
            <a:ext cx="1920240" cy="914400"/>
          </a:xfrm>
          <a:prstGeom prst="rect">
            <a:avLst/>
          </a:prstGeom>
          <a:noFill/>
        </p:spPr>
        <p:txBody>
          <a:bodyPr wrap="square">
            <a:spAutoFit/>
          </a:bodyPr>
          <a:lstStyle/>
          <a:p>
            <a:pPr algn="ctr"/>
            <a:r>
              <a:rPr sz="1100" b="0" i="0">
                <a:solidFill>
                  <a:srgbClr val="F1F5F9"/>
                </a:solidFill>
                <a:latin typeface="Calibri"/>
              </a:rPr>
              <a:t>Check reliability,
performance &amp; bugs</a:t>
            </a:r>
          </a:p>
        </p:txBody>
      </p:sp>
      <p:sp>
        <p:nvSpPr>
          <p:cNvPr id="34" name="Oval 33"/>
          <p:cNvSpPr/>
          <p:nvPr/>
        </p:nvSpPr>
        <p:spPr>
          <a:xfrm>
            <a:off x="10287000" y="1508760"/>
            <a:ext cx="1188720" cy="11887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87000" y="1572768"/>
            <a:ext cx="1188720" cy="1060704"/>
          </a:xfrm>
          <a:prstGeom prst="rect">
            <a:avLst/>
          </a:prstGeom>
          <a:noFill/>
        </p:spPr>
        <p:txBody>
          <a:bodyPr wrap="square">
            <a:spAutoFit/>
          </a:bodyPr>
          <a:lstStyle/>
          <a:p>
            <a:pPr algn="ctr"/>
            <a:r>
              <a:rPr sz="2800" b="1" i="0">
                <a:solidFill>
                  <a:srgbClr val="FFFFFF"/>
                </a:solidFill>
                <a:latin typeface="Calibri"/>
              </a:rPr>
              <a:t>5</a:t>
            </a:r>
          </a:p>
        </p:txBody>
      </p:sp>
      <p:sp>
        <p:nvSpPr>
          <p:cNvPr id="36" name="Rectangle 35"/>
          <p:cNvSpPr/>
          <p:nvPr/>
        </p:nvSpPr>
        <p:spPr>
          <a:xfrm>
            <a:off x="9692640" y="2880360"/>
            <a:ext cx="2103120" cy="1554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92640" y="2880360"/>
            <a:ext cx="210312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0" y="2926080"/>
            <a:ext cx="1920240" cy="384048"/>
          </a:xfrm>
          <a:prstGeom prst="rect">
            <a:avLst/>
          </a:prstGeom>
          <a:noFill/>
        </p:spPr>
        <p:txBody>
          <a:bodyPr wrap="square">
            <a:spAutoFit/>
          </a:bodyPr>
          <a:lstStyle/>
          <a:p>
            <a:pPr algn="ctr"/>
            <a:r>
              <a:rPr sz="1200" b="1" i="0">
                <a:solidFill>
                  <a:srgbClr val="FFFFFF"/>
                </a:solidFill>
                <a:latin typeface="Calibri"/>
              </a:rPr>
              <a:t>Deployment</a:t>
            </a:r>
          </a:p>
        </p:txBody>
      </p:sp>
      <p:sp>
        <p:nvSpPr>
          <p:cNvPr id="39" name="TextBox 38"/>
          <p:cNvSpPr txBox="1"/>
          <p:nvPr/>
        </p:nvSpPr>
        <p:spPr>
          <a:xfrm>
            <a:off x="9784080" y="3364992"/>
            <a:ext cx="1920240" cy="914400"/>
          </a:xfrm>
          <a:prstGeom prst="rect">
            <a:avLst/>
          </a:prstGeom>
          <a:noFill/>
        </p:spPr>
        <p:txBody>
          <a:bodyPr wrap="square">
            <a:spAutoFit/>
          </a:bodyPr>
          <a:lstStyle/>
          <a:p>
            <a:pPr algn="ctr"/>
            <a:r>
              <a:rPr sz="1100" b="0" i="0">
                <a:solidFill>
                  <a:srgbClr val="F1F5F9"/>
                </a:solidFill>
                <a:latin typeface="Calibri"/>
              </a:rPr>
              <a:t>Final application
prepared &amp; packaged</a:t>
            </a:r>
          </a:p>
        </p:txBody>
      </p:sp>
      <p:sp>
        <p:nvSpPr>
          <p:cNvPr id="40" name="Rectangle 39"/>
          <p:cNvSpPr/>
          <p:nvPr/>
        </p:nvSpPr>
        <p:spPr>
          <a:xfrm>
            <a:off x="365760" y="4663440"/>
            <a:ext cx="11430000" cy="1874519"/>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754880"/>
            <a:ext cx="3657600" cy="384048"/>
          </a:xfrm>
          <a:prstGeom prst="rect">
            <a:avLst/>
          </a:prstGeom>
          <a:noFill/>
        </p:spPr>
        <p:txBody>
          <a:bodyPr wrap="square">
            <a:spAutoFit/>
          </a:bodyPr>
          <a:lstStyle/>
          <a:p>
            <a:pPr algn="l"/>
            <a:r>
              <a:rPr sz="1300" b="1" i="0">
                <a:solidFill>
                  <a:srgbClr val="06B6D4"/>
                </a:solidFill>
                <a:latin typeface="Calibri"/>
              </a:rPr>
              <a:t>Key Practices Used:</a:t>
            </a:r>
          </a:p>
        </p:txBody>
      </p:sp>
      <p:sp>
        <p:nvSpPr>
          <p:cNvPr id="42" name="TextBox 41"/>
          <p:cNvSpPr txBox="1"/>
          <p:nvPr/>
        </p:nvSpPr>
        <p:spPr>
          <a:xfrm>
            <a:off x="640080" y="5166360"/>
            <a:ext cx="10972800" cy="1188720"/>
          </a:xfrm>
          <a:prstGeom prst="rect">
            <a:avLst/>
          </a:prstGeom>
          <a:noFill/>
        </p:spPr>
        <p:txBody>
          <a:bodyPr wrap="square">
            <a:spAutoFit/>
          </a:bodyPr>
          <a:lstStyle/>
          <a:p>
            <a:pPr algn="l">
              <a:spcBef>
                <a:spcPts val="300"/>
              </a:spcBef>
            </a:pPr>
            <a:r>
              <a:rPr sz="1200" b="0">
                <a:solidFill>
                  <a:srgbClr val="F1F5F9"/>
                </a:solidFill>
                <a:latin typeface="Calibri"/>
              </a:rPr>
              <a:t>  ›  Modular programming approach for easy debugging</a:t>
            </a:r>
          </a:p>
          <a:p>
            <a:pPr algn="l">
              <a:spcBef>
                <a:spcPts val="300"/>
              </a:spcBef>
            </a:pPr>
            <a:r>
              <a:rPr sz="1200" b="0">
                <a:solidFill>
                  <a:srgbClr val="F1F5F9"/>
                </a:solidFill>
                <a:latin typeface="Calibri"/>
              </a:rPr>
              <a:t>  ›  Threading to keep UI responsive during API calls</a:t>
            </a:r>
          </a:p>
          <a:p>
            <a:pPr algn="l">
              <a:spcBef>
                <a:spcPts val="300"/>
              </a:spcBef>
            </a:pPr>
            <a:r>
              <a:rPr sz="1200" b="0">
                <a:solidFill>
                  <a:srgbClr val="F1F5F9"/>
                </a:solidFill>
                <a:latin typeface="Calibri"/>
              </a:rPr>
              <a:t>  ›  Error handling with fallback messages for all failures</a:t>
            </a:r>
          </a:p>
          <a:p>
            <a:pPr algn="l">
              <a:spcBef>
                <a:spcPts val="300"/>
              </a:spcBef>
            </a:pPr>
            <a:r>
              <a:rPr sz="1200" b="0">
                <a:solidFill>
                  <a:srgbClr val="F1F5F9"/>
                </a:solidFill>
                <a:latin typeface="Calibri"/>
              </a:rPr>
              <a:t>  ›  Iterative testing after every feature addition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RESULTS AND DISCUSSION</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Project outcomes and performance</a:t>
            </a:r>
          </a:p>
        </p:txBody>
      </p:sp>
      <p:sp>
        <p:nvSpPr>
          <p:cNvPr id="6" name="Rectangle 5"/>
          <p:cNvSpPr/>
          <p:nvPr/>
        </p:nvSpPr>
        <p:spPr>
          <a:xfrm>
            <a:off x="365760" y="1417320"/>
            <a:ext cx="265176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1508760"/>
            <a:ext cx="822960" cy="82296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536192"/>
            <a:ext cx="822960" cy="749808"/>
          </a:xfrm>
          <a:prstGeom prst="rect">
            <a:avLst/>
          </a:prstGeom>
          <a:noFill/>
        </p:spPr>
        <p:txBody>
          <a:bodyPr wrap="square">
            <a:spAutoFit/>
          </a:bodyPr>
          <a:lstStyle/>
          <a:p>
            <a:pPr algn="ctr"/>
            <a:r>
              <a:rPr sz="2400" b="1" i="0">
                <a:solidFill>
                  <a:srgbClr val="FFFFFF"/>
                </a:solidFill>
                <a:latin typeface="Calibri"/>
              </a:rPr>
              <a:t>5</a:t>
            </a:r>
          </a:p>
        </p:txBody>
      </p:sp>
      <p:sp>
        <p:nvSpPr>
          <p:cNvPr id="9" name="TextBox 8"/>
          <p:cNvSpPr txBox="1"/>
          <p:nvPr/>
        </p:nvSpPr>
        <p:spPr>
          <a:xfrm>
            <a:off x="457200" y="2377440"/>
            <a:ext cx="2468880" cy="384048"/>
          </a:xfrm>
          <a:prstGeom prst="rect">
            <a:avLst/>
          </a:prstGeom>
          <a:noFill/>
        </p:spPr>
        <p:txBody>
          <a:bodyPr wrap="square">
            <a:spAutoFit/>
          </a:bodyPr>
          <a:lstStyle/>
          <a:p>
            <a:pPr algn="ctr"/>
            <a:r>
              <a:rPr sz="1200" b="1" i="0">
                <a:solidFill>
                  <a:srgbClr val="06B6D4"/>
                </a:solidFill>
                <a:latin typeface="Calibri"/>
              </a:rPr>
              <a:t>Study Modes</a:t>
            </a:r>
          </a:p>
        </p:txBody>
      </p:sp>
      <p:sp>
        <p:nvSpPr>
          <p:cNvPr id="10" name="TextBox 9"/>
          <p:cNvSpPr txBox="1"/>
          <p:nvPr/>
        </p:nvSpPr>
        <p:spPr>
          <a:xfrm>
            <a:off x="457200" y="2761488"/>
            <a:ext cx="2468880" cy="502920"/>
          </a:xfrm>
          <a:prstGeom prst="rect">
            <a:avLst/>
          </a:prstGeom>
          <a:noFill/>
        </p:spPr>
        <p:txBody>
          <a:bodyPr wrap="square">
            <a:spAutoFit/>
          </a:bodyPr>
          <a:lstStyle/>
          <a:p>
            <a:pPr algn="ctr"/>
            <a:r>
              <a:rPr sz="1000" b="0" i="0">
                <a:solidFill>
                  <a:srgbClr val="94A3B8"/>
                </a:solidFill>
                <a:latin typeface="Calibri"/>
              </a:rPr>
              <a:t>Research·Code·Math·Summary·General</a:t>
            </a:r>
          </a:p>
        </p:txBody>
      </p:sp>
      <p:sp>
        <p:nvSpPr>
          <p:cNvPr id="11" name="Rectangle 10"/>
          <p:cNvSpPr/>
          <p:nvPr/>
        </p:nvSpPr>
        <p:spPr>
          <a:xfrm>
            <a:off x="3291840" y="1417320"/>
            <a:ext cx="265176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97680" y="1508760"/>
            <a:ext cx="822960" cy="8229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536192"/>
            <a:ext cx="822960" cy="749808"/>
          </a:xfrm>
          <a:prstGeom prst="rect">
            <a:avLst/>
          </a:prstGeom>
          <a:noFill/>
        </p:spPr>
        <p:txBody>
          <a:bodyPr wrap="square">
            <a:spAutoFit/>
          </a:bodyPr>
          <a:lstStyle/>
          <a:p>
            <a:pPr algn="ctr"/>
            <a:r>
              <a:rPr sz="2400" b="1" i="0">
                <a:solidFill>
                  <a:srgbClr val="FFFFFF"/>
                </a:solidFill>
                <a:latin typeface="Calibri"/>
              </a:rPr>
              <a:t>70B</a:t>
            </a:r>
          </a:p>
        </p:txBody>
      </p:sp>
      <p:sp>
        <p:nvSpPr>
          <p:cNvPr id="14" name="TextBox 13"/>
          <p:cNvSpPr txBox="1"/>
          <p:nvPr/>
        </p:nvSpPr>
        <p:spPr>
          <a:xfrm>
            <a:off x="3383280" y="2377440"/>
            <a:ext cx="2468880" cy="384048"/>
          </a:xfrm>
          <a:prstGeom prst="rect">
            <a:avLst/>
          </a:prstGeom>
          <a:noFill/>
        </p:spPr>
        <p:txBody>
          <a:bodyPr wrap="square">
            <a:spAutoFit/>
          </a:bodyPr>
          <a:lstStyle/>
          <a:p>
            <a:pPr algn="ctr"/>
            <a:r>
              <a:rPr sz="1200" b="1" i="0">
                <a:solidFill>
                  <a:srgbClr val="10B981"/>
                </a:solidFill>
                <a:latin typeface="Calibri"/>
              </a:rPr>
              <a:t>Model Params</a:t>
            </a:r>
          </a:p>
        </p:txBody>
      </p:sp>
      <p:sp>
        <p:nvSpPr>
          <p:cNvPr id="15" name="TextBox 14"/>
          <p:cNvSpPr txBox="1"/>
          <p:nvPr/>
        </p:nvSpPr>
        <p:spPr>
          <a:xfrm>
            <a:off x="3383280" y="2761488"/>
            <a:ext cx="2468880" cy="502920"/>
          </a:xfrm>
          <a:prstGeom prst="rect">
            <a:avLst/>
          </a:prstGeom>
          <a:noFill/>
        </p:spPr>
        <p:txBody>
          <a:bodyPr wrap="square">
            <a:spAutoFit/>
          </a:bodyPr>
          <a:lstStyle/>
          <a:p>
            <a:pPr algn="ctr"/>
            <a:r>
              <a:rPr sz="1000" b="0" i="0">
                <a:solidFill>
                  <a:srgbClr val="94A3B8"/>
                </a:solidFill>
                <a:latin typeface="Calibri"/>
              </a:rPr>
              <a:t>Llama-3.3-70B Versatile</a:t>
            </a:r>
          </a:p>
        </p:txBody>
      </p:sp>
      <p:sp>
        <p:nvSpPr>
          <p:cNvPr id="16" name="Rectangle 15"/>
          <p:cNvSpPr/>
          <p:nvPr/>
        </p:nvSpPr>
        <p:spPr>
          <a:xfrm>
            <a:off x="6217920" y="1417320"/>
            <a:ext cx="265176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23760" y="1508760"/>
            <a:ext cx="822960" cy="8229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1536192"/>
            <a:ext cx="822960" cy="749808"/>
          </a:xfrm>
          <a:prstGeom prst="rect">
            <a:avLst/>
          </a:prstGeom>
          <a:noFill/>
        </p:spPr>
        <p:txBody>
          <a:bodyPr wrap="square">
            <a:spAutoFit/>
          </a:bodyPr>
          <a:lstStyle/>
          <a:p>
            <a:pPr algn="ctr"/>
            <a:r>
              <a:rPr sz="2400" b="1" i="0">
                <a:solidFill>
                  <a:srgbClr val="FFFFFF"/>
                </a:solidFill>
                <a:latin typeface="Calibri"/>
              </a:rPr>
              <a:t>3</a:t>
            </a:r>
          </a:p>
        </p:txBody>
      </p:sp>
      <p:sp>
        <p:nvSpPr>
          <p:cNvPr id="19" name="TextBox 18"/>
          <p:cNvSpPr txBox="1"/>
          <p:nvPr/>
        </p:nvSpPr>
        <p:spPr>
          <a:xfrm>
            <a:off x="6309360" y="2377440"/>
            <a:ext cx="2468880" cy="384048"/>
          </a:xfrm>
          <a:prstGeom prst="rect">
            <a:avLst/>
          </a:prstGeom>
          <a:noFill/>
        </p:spPr>
        <p:txBody>
          <a:bodyPr wrap="square">
            <a:spAutoFit/>
          </a:bodyPr>
          <a:lstStyle/>
          <a:p>
            <a:pPr algn="ctr"/>
            <a:r>
              <a:rPr sz="1200" b="1" i="0">
                <a:solidFill>
                  <a:srgbClr val="F59E0B"/>
                </a:solidFill>
                <a:latin typeface="Calibri"/>
              </a:rPr>
              <a:t>Input Methods</a:t>
            </a:r>
          </a:p>
        </p:txBody>
      </p:sp>
      <p:sp>
        <p:nvSpPr>
          <p:cNvPr id="20" name="TextBox 19"/>
          <p:cNvSpPr txBox="1"/>
          <p:nvPr/>
        </p:nvSpPr>
        <p:spPr>
          <a:xfrm>
            <a:off x="6309360" y="2761488"/>
            <a:ext cx="2468880" cy="502920"/>
          </a:xfrm>
          <a:prstGeom prst="rect">
            <a:avLst/>
          </a:prstGeom>
          <a:noFill/>
        </p:spPr>
        <p:txBody>
          <a:bodyPr wrap="square">
            <a:spAutoFit/>
          </a:bodyPr>
          <a:lstStyle/>
          <a:p>
            <a:pPr algn="ctr"/>
            <a:r>
              <a:rPr sz="1000" b="0" i="0">
                <a:solidFill>
                  <a:srgbClr val="94A3B8"/>
                </a:solidFill>
                <a:latin typeface="Calibri"/>
              </a:rPr>
              <a:t>Text, Voice &amp; PDF</a:t>
            </a:r>
          </a:p>
        </p:txBody>
      </p:sp>
      <p:sp>
        <p:nvSpPr>
          <p:cNvPr id="21" name="Rectangle 20"/>
          <p:cNvSpPr/>
          <p:nvPr/>
        </p:nvSpPr>
        <p:spPr>
          <a:xfrm>
            <a:off x="9144000" y="1417320"/>
            <a:ext cx="265176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49840" y="1508760"/>
            <a:ext cx="822960" cy="8229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1536192"/>
            <a:ext cx="822960" cy="749808"/>
          </a:xfrm>
          <a:prstGeom prst="rect">
            <a:avLst/>
          </a:prstGeom>
          <a:noFill/>
        </p:spPr>
        <p:txBody>
          <a:bodyPr wrap="square">
            <a:spAutoFit/>
          </a:bodyPr>
          <a:lstStyle/>
          <a:p>
            <a:pPr algn="ctr"/>
            <a:r>
              <a:rPr sz="2400" b="1" i="0">
                <a:solidFill>
                  <a:srgbClr val="FFFFFF"/>
                </a:solidFill>
                <a:latin typeface="Calibri"/>
              </a:rPr>
              <a:t>∞</a:t>
            </a:r>
          </a:p>
        </p:txBody>
      </p:sp>
      <p:sp>
        <p:nvSpPr>
          <p:cNvPr id="24" name="TextBox 23"/>
          <p:cNvSpPr txBox="1"/>
          <p:nvPr/>
        </p:nvSpPr>
        <p:spPr>
          <a:xfrm>
            <a:off x="9235440" y="2377440"/>
            <a:ext cx="2468880" cy="384048"/>
          </a:xfrm>
          <a:prstGeom prst="rect">
            <a:avLst/>
          </a:prstGeom>
          <a:noFill/>
        </p:spPr>
        <p:txBody>
          <a:bodyPr wrap="square">
            <a:spAutoFit/>
          </a:bodyPr>
          <a:lstStyle/>
          <a:p>
            <a:pPr algn="ctr"/>
            <a:r>
              <a:rPr sz="1200" b="1" i="0">
                <a:solidFill>
                  <a:srgbClr val="7C3AED"/>
                </a:solidFill>
                <a:latin typeface="Calibri"/>
              </a:rPr>
              <a:t>Free Usage</a:t>
            </a:r>
          </a:p>
        </p:txBody>
      </p:sp>
      <p:sp>
        <p:nvSpPr>
          <p:cNvPr id="25" name="TextBox 24"/>
          <p:cNvSpPr txBox="1"/>
          <p:nvPr/>
        </p:nvSpPr>
        <p:spPr>
          <a:xfrm>
            <a:off x="9235440" y="2761488"/>
            <a:ext cx="2468880" cy="502920"/>
          </a:xfrm>
          <a:prstGeom prst="rect">
            <a:avLst/>
          </a:prstGeom>
          <a:noFill/>
        </p:spPr>
        <p:txBody>
          <a:bodyPr wrap="square">
            <a:spAutoFit/>
          </a:bodyPr>
          <a:lstStyle/>
          <a:p>
            <a:pPr algn="ctr"/>
            <a:r>
              <a:rPr sz="1000" b="0" i="0">
                <a:solidFill>
                  <a:srgbClr val="94A3B8"/>
                </a:solidFill>
                <a:latin typeface="Calibri"/>
              </a:rPr>
              <a:t>Groq free tier</a:t>
            </a:r>
          </a:p>
        </p:txBody>
      </p:sp>
      <p:sp>
        <p:nvSpPr>
          <p:cNvPr id="26" name="Rectangle 25"/>
          <p:cNvSpPr/>
          <p:nvPr/>
        </p:nvSpPr>
        <p:spPr>
          <a:xfrm>
            <a:off x="365760" y="3611880"/>
            <a:ext cx="1143000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611880"/>
            <a:ext cx="256032" cy="2926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703320"/>
            <a:ext cx="10515600" cy="457200"/>
          </a:xfrm>
          <a:prstGeom prst="rect">
            <a:avLst/>
          </a:prstGeom>
          <a:noFill/>
        </p:spPr>
        <p:txBody>
          <a:bodyPr wrap="square">
            <a:spAutoFit/>
          </a:bodyPr>
          <a:lstStyle/>
          <a:p>
            <a:pPr algn="l"/>
            <a:r>
              <a:rPr sz="1500" b="1" i="0">
                <a:solidFill>
                  <a:srgbClr val="057A55"/>
                </a:solidFill>
                <a:latin typeface="Calibri"/>
              </a:rPr>
              <a:t>✅  Successfully Delivered</a:t>
            </a:r>
          </a:p>
        </p:txBody>
      </p:sp>
      <p:sp>
        <p:nvSpPr>
          <p:cNvPr id="29" name="TextBox 28"/>
          <p:cNvSpPr txBox="1"/>
          <p:nvPr/>
        </p:nvSpPr>
        <p:spPr>
          <a:xfrm>
            <a:off x="777240" y="4224528"/>
            <a:ext cx="10789920" cy="2103120"/>
          </a:xfrm>
          <a:prstGeom prst="rect">
            <a:avLst/>
          </a:prstGeom>
          <a:noFill/>
        </p:spPr>
        <p:txBody>
          <a:bodyPr wrap="square">
            <a:spAutoFit/>
          </a:bodyPr>
          <a:lstStyle/>
          <a:p>
            <a:pPr algn="l">
              <a:spcBef>
                <a:spcPts val="300"/>
              </a:spcBef>
            </a:pPr>
            <a:r>
              <a:rPr sz="1300" b="0">
                <a:solidFill>
                  <a:srgbClr val="1E293B"/>
                </a:solidFill>
                <a:latin typeface="Calibri"/>
              </a:rPr>
              <a:t>  ›  Fully functional AI Study Assistant desktop application completed</a:t>
            </a:r>
          </a:p>
          <a:p>
            <a:pPr algn="l">
              <a:spcBef>
                <a:spcPts val="300"/>
              </a:spcBef>
            </a:pPr>
            <a:r>
              <a:rPr sz="1300" b="0">
                <a:solidFill>
                  <a:srgbClr val="1E293B"/>
                </a:solidFill>
                <a:latin typeface="Calibri"/>
              </a:rPr>
              <a:t>  ›  Real-time AI responses via Groq API with Llama-3.3-70B model</a:t>
            </a:r>
          </a:p>
          <a:p>
            <a:pPr algn="l">
              <a:spcBef>
                <a:spcPts val="300"/>
              </a:spcBef>
            </a:pPr>
            <a:r>
              <a:rPr sz="1300" b="0">
                <a:solidFill>
                  <a:srgbClr val="1E293B"/>
                </a:solidFill>
                <a:latin typeface="Calibri"/>
              </a:rPr>
              <a:t>  ›  Multi-modal input: keyboard typing, microphone voice, PDF file upload</a:t>
            </a:r>
          </a:p>
          <a:p>
            <a:pPr algn="l">
              <a:spcBef>
                <a:spcPts val="300"/>
              </a:spcBef>
            </a:pPr>
            <a:r>
              <a:rPr sz="1300" b="0">
                <a:solidFill>
                  <a:srgbClr val="1E293B"/>
                </a:solidFill>
                <a:latin typeface="Calibri"/>
              </a:rPr>
              <a:t>  ›  Persistent session history saved to JSON and restored on relaunch</a:t>
            </a:r>
          </a:p>
          <a:p>
            <a:pPr algn="l">
              <a:spcBef>
                <a:spcPts val="300"/>
              </a:spcBef>
            </a:pPr>
            <a:r>
              <a:rPr sz="1300" b="0">
                <a:solidFill>
                  <a:srgbClr val="1E293B"/>
                </a:solidFill>
                <a:latin typeface="Calibri"/>
              </a:rPr>
              <a:t>  ›  Voice output via text-to-speech for hands-free studying experience</a:t>
            </a:r>
          </a:p>
          <a:p>
            <a:pPr algn="l">
              <a:spcBef>
                <a:spcPts val="300"/>
              </a:spcBef>
            </a:pPr>
            <a:r>
              <a:rPr sz="1300" b="0">
                <a:solidFill>
                  <a:srgbClr val="1E293B"/>
                </a:solidFill>
                <a:latin typeface="Calibri"/>
              </a:rPr>
              <a:t>  ›  Clean modern interface with CustomTkinter — professional look &amp; feel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ADVANTAGES OF THE PROPOSED SYSTEM</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Why Aura AI stands out</a:t>
            </a:r>
          </a:p>
        </p:txBody>
      </p:sp>
      <p:sp>
        <p:nvSpPr>
          <p:cNvPr id="6" name="Rectangle 5"/>
          <p:cNvSpPr/>
          <p:nvPr/>
        </p:nvSpPr>
        <p:spPr>
          <a:xfrm>
            <a:off x="365760" y="1417320"/>
            <a:ext cx="36576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3657600" cy="5029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81328"/>
            <a:ext cx="3291840" cy="411480"/>
          </a:xfrm>
          <a:prstGeom prst="rect">
            <a:avLst/>
          </a:prstGeom>
          <a:noFill/>
        </p:spPr>
        <p:txBody>
          <a:bodyPr wrap="square">
            <a:spAutoFit/>
          </a:bodyPr>
          <a:lstStyle/>
          <a:p>
            <a:pPr algn="l"/>
            <a:r>
              <a:rPr sz="1400" b="1" i="0">
                <a:solidFill>
                  <a:srgbClr val="FFFFFF"/>
                </a:solidFill>
                <a:latin typeface="Calibri"/>
              </a:rPr>
              <a:t>🎓 Educational Benefits</a:t>
            </a:r>
          </a:p>
        </p:txBody>
      </p:sp>
      <p:sp>
        <p:nvSpPr>
          <p:cNvPr id="9" name="TextBox 8"/>
          <p:cNvSpPr txBox="1"/>
          <p:nvPr/>
        </p:nvSpPr>
        <p:spPr>
          <a:xfrm>
            <a:off x="548640" y="2057400"/>
            <a:ext cx="3291840" cy="4389120"/>
          </a:xfrm>
          <a:prstGeom prst="rect">
            <a:avLst/>
          </a:prstGeom>
          <a:noFill/>
        </p:spPr>
        <p:txBody>
          <a:bodyPr wrap="square">
            <a:spAutoFit/>
          </a:bodyPr>
          <a:lstStyle/>
          <a:p>
            <a:pPr algn="l">
              <a:spcBef>
                <a:spcPts val="300"/>
              </a:spcBef>
            </a:pPr>
            <a:r>
              <a:rPr sz="1300" b="0">
                <a:solidFill>
                  <a:srgbClr val="F1F5F9"/>
                </a:solidFill>
                <a:latin typeface="Calibri"/>
              </a:rPr>
              <a:t>  ›  Personalized learning for every student</a:t>
            </a:r>
          </a:p>
          <a:p>
            <a:pPr algn="l">
              <a:spcBef>
                <a:spcPts val="300"/>
              </a:spcBef>
            </a:pPr>
            <a:r>
              <a:rPr sz="1300" b="0">
                <a:solidFill>
                  <a:srgbClr val="F1F5F9"/>
                </a:solidFill>
                <a:latin typeface="Calibri"/>
              </a:rPr>
              <a:t>  ›  Instant 24/7 academic assistance</a:t>
            </a:r>
          </a:p>
          <a:p>
            <a:pPr algn="l">
              <a:spcBef>
                <a:spcPts val="300"/>
              </a:spcBef>
            </a:pPr>
            <a:r>
              <a:rPr sz="1300" b="0">
                <a:solidFill>
                  <a:srgbClr val="F1F5F9"/>
                </a:solidFill>
                <a:latin typeface="Calibri"/>
              </a:rPr>
              <a:t>  ›  Better concept understanding via AI</a:t>
            </a:r>
          </a:p>
          <a:p>
            <a:pPr algn="l">
              <a:spcBef>
                <a:spcPts val="300"/>
              </a:spcBef>
            </a:pPr>
            <a:r>
              <a:rPr sz="1300" b="0">
                <a:solidFill>
                  <a:srgbClr val="F1F5F9"/>
                </a:solidFill>
                <a:latin typeface="Calibri"/>
              </a:rPr>
              <a:t>  ›  Increased study productivity</a:t>
            </a:r>
          </a:p>
        </p:txBody>
      </p:sp>
      <p:sp>
        <p:nvSpPr>
          <p:cNvPr id="10" name="Rectangle 9"/>
          <p:cNvSpPr/>
          <p:nvPr/>
        </p:nvSpPr>
        <p:spPr>
          <a:xfrm>
            <a:off x="4297680" y="1417320"/>
            <a:ext cx="36576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417320"/>
            <a:ext cx="365760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81328"/>
            <a:ext cx="3291840" cy="411480"/>
          </a:xfrm>
          <a:prstGeom prst="rect">
            <a:avLst/>
          </a:prstGeom>
          <a:noFill/>
        </p:spPr>
        <p:txBody>
          <a:bodyPr wrap="square">
            <a:spAutoFit/>
          </a:bodyPr>
          <a:lstStyle/>
          <a:p>
            <a:pPr algn="l"/>
            <a:r>
              <a:rPr sz="1400" b="1" i="0">
                <a:solidFill>
                  <a:srgbClr val="FFFFFF"/>
                </a:solidFill>
                <a:latin typeface="Calibri"/>
              </a:rPr>
              <a:t>💻 Technical Benefits</a:t>
            </a:r>
          </a:p>
        </p:txBody>
      </p:sp>
      <p:sp>
        <p:nvSpPr>
          <p:cNvPr id="13" name="TextBox 12"/>
          <p:cNvSpPr txBox="1"/>
          <p:nvPr/>
        </p:nvSpPr>
        <p:spPr>
          <a:xfrm>
            <a:off x="4480560" y="2057400"/>
            <a:ext cx="3291840" cy="4389120"/>
          </a:xfrm>
          <a:prstGeom prst="rect">
            <a:avLst/>
          </a:prstGeom>
          <a:noFill/>
        </p:spPr>
        <p:txBody>
          <a:bodyPr wrap="square">
            <a:spAutoFit/>
          </a:bodyPr>
          <a:lstStyle/>
          <a:p>
            <a:pPr algn="l">
              <a:spcBef>
                <a:spcPts val="300"/>
              </a:spcBef>
            </a:pPr>
            <a:r>
              <a:rPr sz="1300" b="0">
                <a:solidFill>
                  <a:srgbClr val="F1F5F9"/>
                </a:solidFill>
                <a:latin typeface="Calibri"/>
              </a:rPr>
              <a:t>  ›  Easy to use — no training required</a:t>
            </a:r>
          </a:p>
          <a:p>
            <a:pPr algn="l">
              <a:spcBef>
                <a:spcPts val="300"/>
              </a:spcBef>
            </a:pPr>
            <a:r>
              <a:rPr sz="1300" b="0">
                <a:solidFill>
                  <a:srgbClr val="F1F5F9"/>
                </a:solidFill>
                <a:latin typeface="Calibri"/>
              </a:rPr>
              <a:t>  ›  Flexible and expandable architecture</a:t>
            </a:r>
          </a:p>
          <a:p>
            <a:pPr algn="l">
              <a:spcBef>
                <a:spcPts val="300"/>
              </a:spcBef>
            </a:pPr>
            <a:r>
              <a:rPr sz="1300" b="0">
                <a:solidFill>
                  <a:srgbClr val="F1F5F9"/>
                </a:solidFill>
                <a:latin typeface="Calibri"/>
              </a:rPr>
              <a:t>  ›  Modern clean user interface</a:t>
            </a:r>
          </a:p>
          <a:p>
            <a:pPr algn="l">
              <a:spcBef>
                <a:spcPts val="300"/>
              </a:spcBef>
            </a:pPr>
            <a:r>
              <a:rPr sz="1300" b="0">
                <a:solidFill>
                  <a:srgbClr val="F1F5F9"/>
                </a:solidFill>
                <a:latin typeface="Calibri"/>
              </a:rPr>
              <a:t>  ›  Fast Groq AI responses</a:t>
            </a:r>
          </a:p>
        </p:txBody>
      </p:sp>
      <p:sp>
        <p:nvSpPr>
          <p:cNvPr id="14" name="Rectangle 13"/>
          <p:cNvSpPr/>
          <p:nvPr/>
        </p:nvSpPr>
        <p:spPr>
          <a:xfrm>
            <a:off x="8229600" y="1417320"/>
            <a:ext cx="36576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417320"/>
            <a:ext cx="36576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81328"/>
            <a:ext cx="3291840" cy="411480"/>
          </a:xfrm>
          <a:prstGeom prst="rect">
            <a:avLst/>
          </a:prstGeom>
          <a:noFill/>
        </p:spPr>
        <p:txBody>
          <a:bodyPr wrap="square">
            <a:spAutoFit/>
          </a:bodyPr>
          <a:lstStyle/>
          <a:p>
            <a:pPr algn="l"/>
            <a:r>
              <a:rPr sz="1400" b="1" i="0">
                <a:solidFill>
                  <a:srgbClr val="FFFFFF"/>
                </a:solidFill>
                <a:latin typeface="Calibri"/>
              </a:rPr>
              <a:t>💰 Cost Benefits</a:t>
            </a:r>
          </a:p>
        </p:txBody>
      </p:sp>
      <p:sp>
        <p:nvSpPr>
          <p:cNvPr id="17" name="TextBox 16"/>
          <p:cNvSpPr txBox="1"/>
          <p:nvPr/>
        </p:nvSpPr>
        <p:spPr>
          <a:xfrm>
            <a:off x="8412480" y="2057400"/>
            <a:ext cx="3291840" cy="4389120"/>
          </a:xfrm>
          <a:prstGeom prst="rect">
            <a:avLst/>
          </a:prstGeom>
          <a:noFill/>
        </p:spPr>
        <p:txBody>
          <a:bodyPr wrap="square">
            <a:spAutoFit/>
          </a:bodyPr>
          <a:lstStyle/>
          <a:p>
            <a:pPr algn="l">
              <a:spcBef>
                <a:spcPts val="300"/>
              </a:spcBef>
            </a:pPr>
            <a:r>
              <a:rPr sz="1300" b="0">
                <a:solidFill>
                  <a:srgbClr val="F1F5F9"/>
                </a:solidFill>
                <a:latin typeface="Calibri"/>
              </a:rPr>
              <a:t>  ›  Completely free to use</a:t>
            </a:r>
          </a:p>
          <a:p>
            <a:pPr algn="l">
              <a:spcBef>
                <a:spcPts val="300"/>
              </a:spcBef>
            </a:pPr>
            <a:r>
              <a:rPr sz="1300" b="0">
                <a:solidFill>
                  <a:srgbClr val="F1F5F9"/>
                </a:solidFill>
                <a:latin typeface="Calibri"/>
              </a:rPr>
              <a:t>  ›  No subscription required</a:t>
            </a:r>
          </a:p>
          <a:p>
            <a:pPr algn="l">
              <a:spcBef>
                <a:spcPts val="300"/>
              </a:spcBef>
            </a:pPr>
            <a:r>
              <a:rPr sz="1300" b="0">
                <a:solidFill>
                  <a:srgbClr val="F1F5F9"/>
                </a:solidFill>
                <a:latin typeface="Calibri"/>
              </a:rPr>
              <a:t>  ›  Free Groq API — no charges</a:t>
            </a:r>
          </a:p>
          <a:p>
            <a:pPr algn="l">
              <a:spcBef>
                <a:spcPts val="300"/>
              </a:spcBef>
            </a:pPr>
            <a:r>
              <a:rPr sz="1300" b="0">
                <a:solidFill>
                  <a:srgbClr val="F1F5F9"/>
                </a:solidFill>
                <a:latin typeface="Calibri"/>
              </a:rPr>
              <a:t>  ›  Open source technologies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LIMITATIONS</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Current constraints of the system</a:t>
            </a:r>
          </a:p>
        </p:txBody>
      </p:sp>
      <p:sp>
        <p:nvSpPr>
          <p:cNvPr id="6" name="Rectangle 5"/>
          <p:cNvSpPr/>
          <p:nvPr/>
        </p:nvSpPr>
        <p:spPr>
          <a:xfrm>
            <a:off x="365760" y="1417320"/>
            <a:ext cx="557784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 cy="2331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4937760" cy="438912"/>
          </a:xfrm>
          <a:prstGeom prst="rect">
            <a:avLst/>
          </a:prstGeom>
          <a:noFill/>
        </p:spPr>
        <p:txBody>
          <a:bodyPr wrap="square">
            <a:spAutoFit/>
          </a:bodyPr>
          <a:lstStyle/>
          <a:p>
            <a:pPr algn="l"/>
            <a:r>
              <a:rPr sz="1500" b="1" i="0">
                <a:solidFill>
                  <a:srgbClr val="EF4444"/>
                </a:solidFill>
                <a:latin typeface="Calibri"/>
              </a:rPr>
              <a:t>🌐 Internet Required</a:t>
            </a:r>
          </a:p>
        </p:txBody>
      </p:sp>
      <p:sp>
        <p:nvSpPr>
          <p:cNvPr id="9" name="TextBox 8"/>
          <p:cNvSpPr txBox="1"/>
          <p:nvPr/>
        </p:nvSpPr>
        <p:spPr>
          <a:xfrm>
            <a:off x="777240" y="2075688"/>
            <a:ext cx="4937760" cy="1417320"/>
          </a:xfrm>
          <a:prstGeom prst="rect">
            <a:avLst/>
          </a:prstGeom>
          <a:noFill/>
        </p:spPr>
        <p:txBody>
          <a:bodyPr wrap="square">
            <a:spAutoFit/>
          </a:bodyPr>
          <a:lstStyle/>
          <a:p>
            <a:pPr algn="l"/>
            <a:r>
              <a:rPr sz="1200" b="0" i="0">
                <a:solidFill>
                  <a:srgbClr val="1E293B"/>
                </a:solidFill>
                <a:latin typeface="Calibri"/>
              </a:rPr>
              <a:t>The system requires an active internet connection to communicate with Groq AI API for generating responses.</a:t>
            </a:r>
          </a:p>
        </p:txBody>
      </p:sp>
      <p:sp>
        <p:nvSpPr>
          <p:cNvPr id="10" name="Rectangle 9"/>
          <p:cNvSpPr/>
          <p:nvPr/>
        </p:nvSpPr>
        <p:spPr>
          <a:xfrm>
            <a:off x="6263640" y="1417320"/>
            <a:ext cx="557784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256032" cy="2331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554480"/>
            <a:ext cx="4937760" cy="438912"/>
          </a:xfrm>
          <a:prstGeom prst="rect">
            <a:avLst/>
          </a:prstGeom>
          <a:noFill/>
        </p:spPr>
        <p:txBody>
          <a:bodyPr wrap="square">
            <a:spAutoFit/>
          </a:bodyPr>
          <a:lstStyle/>
          <a:p>
            <a:pPr algn="l"/>
            <a:r>
              <a:rPr sz="1500" b="1" i="0">
                <a:solidFill>
                  <a:srgbClr val="F59E0B"/>
                </a:solidFill>
                <a:latin typeface="Calibri"/>
              </a:rPr>
              <a:t>🔑 API Dependency</a:t>
            </a:r>
          </a:p>
        </p:txBody>
      </p:sp>
      <p:sp>
        <p:nvSpPr>
          <p:cNvPr id="13" name="TextBox 12"/>
          <p:cNvSpPr txBox="1"/>
          <p:nvPr/>
        </p:nvSpPr>
        <p:spPr>
          <a:xfrm>
            <a:off x="6675120" y="2075688"/>
            <a:ext cx="4937760" cy="1417320"/>
          </a:xfrm>
          <a:prstGeom prst="rect">
            <a:avLst/>
          </a:prstGeom>
          <a:noFill/>
        </p:spPr>
        <p:txBody>
          <a:bodyPr wrap="square">
            <a:spAutoFit/>
          </a:bodyPr>
          <a:lstStyle/>
          <a:p>
            <a:pPr algn="l"/>
            <a:r>
              <a:rPr sz="1200" b="0" i="0">
                <a:solidFill>
                  <a:srgbClr val="1E293B"/>
                </a:solidFill>
                <a:latin typeface="Calibri"/>
              </a:rPr>
              <a:t>System performance depends on Groq API availability and response time from their servers.</a:t>
            </a:r>
          </a:p>
        </p:txBody>
      </p:sp>
      <p:sp>
        <p:nvSpPr>
          <p:cNvPr id="14" name="Rectangle 13"/>
          <p:cNvSpPr/>
          <p:nvPr/>
        </p:nvSpPr>
        <p:spPr>
          <a:xfrm>
            <a:off x="365760" y="4023360"/>
            <a:ext cx="557784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256032" cy="2331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60520"/>
            <a:ext cx="4937760" cy="438912"/>
          </a:xfrm>
          <a:prstGeom prst="rect">
            <a:avLst/>
          </a:prstGeom>
          <a:noFill/>
        </p:spPr>
        <p:txBody>
          <a:bodyPr wrap="square">
            <a:spAutoFit/>
          </a:bodyPr>
          <a:lstStyle/>
          <a:p>
            <a:pPr algn="l"/>
            <a:r>
              <a:rPr sz="1500" b="1" i="0">
                <a:solidFill>
                  <a:srgbClr val="7C3AED"/>
                </a:solidFill>
                <a:latin typeface="Calibri"/>
              </a:rPr>
              <a:t>🎯 Query Quality</a:t>
            </a:r>
          </a:p>
        </p:txBody>
      </p:sp>
      <p:sp>
        <p:nvSpPr>
          <p:cNvPr id="17" name="TextBox 16"/>
          <p:cNvSpPr txBox="1"/>
          <p:nvPr/>
        </p:nvSpPr>
        <p:spPr>
          <a:xfrm>
            <a:off x="777240" y="4681728"/>
            <a:ext cx="4937760" cy="1417320"/>
          </a:xfrm>
          <a:prstGeom prst="rect">
            <a:avLst/>
          </a:prstGeom>
          <a:noFill/>
        </p:spPr>
        <p:txBody>
          <a:bodyPr wrap="square">
            <a:spAutoFit/>
          </a:bodyPr>
          <a:lstStyle/>
          <a:p>
            <a:pPr algn="l"/>
            <a:r>
              <a:rPr sz="1200" b="0" i="0">
                <a:solidFill>
                  <a:srgbClr val="1E293B"/>
                </a:solidFill>
                <a:latin typeface="Calibri"/>
              </a:rPr>
              <a:t>Accuracy of responses varies based on how well the question is worded by the student.</a:t>
            </a:r>
          </a:p>
        </p:txBody>
      </p:sp>
      <p:sp>
        <p:nvSpPr>
          <p:cNvPr id="18" name="Rectangle 17"/>
          <p:cNvSpPr/>
          <p:nvPr/>
        </p:nvSpPr>
        <p:spPr>
          <a:xfrm>
            <a:off x="6263640" y="4023360"/>
            <a:ext cx="557784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4023360"/>
            <a:ext cx="256032" cy="2331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160520"/>
            <a:ext cx="4937760" cy="438912"/>
          </a:xfrm>
          <a:prstGeom prst="rect">
            <a:avLst/>
          </a:prstGeom>
          <a:noFill/>
        </p:spPr>
        <p:txBody>
          <a:bodyPr wrap="square">
            <a:spAutoFit/>
          </a:bodyPr>
          <a:lstStyle/>
          <a:p>
            <a:pPr algn="l"/>
            <a:r>
              <a:rPr sz="1500" b="1" i="0">
                <a:solidFill>
                  <a:srgbClr val="1E40AF"/>
                </a:solidFill>
                <a:latin typeface="Calibri"/>
              </a:rPr>
              <a:t>📴 Limited Offline</a:t>
            </a:r>
          </a:p>
        </p:txBody>
      </p:sp>
      <p:sp>
        <p:nvSpPr>
          <p:cNvPr id="21" name="TextBox 20"/>
          <p:cNvSpPr txBox="1"/>
          <p:nvPr/>
        </p:nvSpPr>
        <p:spPr>
          <a:xfrm>
            <a:off x="6675120" y="4681728"/>
            <a:ext cx="4937760" cy="1417320"/>
          </a:xfrm>
          <a:prstGeom prst="rect">
            <a:avLst/>
          </a:prstGeom>
          <a:noFill/>
        </p:spPr>
        <p:txBody>
          <a:bodyPr wrap="square">
            <a:spAutoFit/>
          </a:bodyPr>
          <a:lstStyle/>
          <a:p>
            <a:pPr algn="l"/>
            <a:r>
              <a:rPr sz="1200" b="0" i="0">
                <a:solidFill>
                  <a:srgbClr val="1E293B"/>
                </a:solidFill>
                <a:latin typeface="Calibri"/>
              </a:rPr>
              <a:t>No offline AI functionality — cannot answer questions without internet connectivity.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280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640080"/>
          </a:xfrm>
          <a:prstGeom prst="rect">
            <a:avLst/>
          </a:prstGeom>
          <a:noFill/>
        </p:spPr>
        <p:txBody>
          <a:bodyPr wrap="square">
            <a:spAutoFit/>
          </a:bodyPr>
          <a:lstStyle/>
          <a:p>
            <a:pPr algn="l"/>
            <a:r>
              <a:rPr sz="2600" b="1" i="0">
                <a:solidFill>
                  <a:srgbClr val="FFFFFF"/>
                </a:solidFill>
                <a:latin typeface="Calibri"/>
              </a:rPr>
              <a:t>FUTURE ENHANCEMENTS</a:t>
            </a:r>
          </a:p>
        </p:txBody>
      </p:sp>
      <p:sp>
        <p:nvSpPr>
          <p:cNvPr id="5" name="TextBox 4"/>
          <p:cNvSpPr txBox="1"/>
          <p:nvPr/>
        </p:nvSpPr>
        <p:spPr>
          <a:xfrm>
            <a:off x="457200" y="749808"/>
            <a:ext cx="10972800" cy="457200"/>
          </a:xfrm>
          <a:prstGeom prst="rect">
            <a:avLst/>
          </a:prstGeom>
          <a:noFill/>
        </p:spPr>
        <p:txBody>
          <a:bodyPr wrap="square">
            <a:spAutoFit/>
          </a:bodyPr>
          <a:lstStyle/>
          <a:p>
            <a:pPr algn="l"/>
            <a:r>
              <a:rPr sz="1300" b="0" i="0">
                <a:solidFill>
                  <a:srgbClr val="06B6D4"/>
                </a:solidFill>
                <a:latin typeface="Calibri"/>
              </a:rPr>
              <a:t>Planned improvements and upcoming features</a:t>
            </a:r>
          </a:p>
        </p:txBody>
      </p:sp>
      <p:sp>
        <p:nvSpPr>
          <p:cNvPr id="6" name="Rectangle 5"/>
          <p:cNvSpPr/>
          <p:nvPr/>
        </p:nvSpPr>
        <p:spPr>
          <a:xfrm>
            <a:off x="365760" y="141732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1581912"/>
            <a:ext cx="685800" cy="68580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61848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9" name="TextBox 8"/>
          <p:cNvSpPr txBox="1"/>
          <p:nvPr/>
        </p:nvSpPr>
        <p:spPr>
          <a:xfrm>
            <a:off x="457200" y="2404872"/>
            <a:ext cx="2468880" cy="384048"/>
          </a:xfrm>
          <a:prstGeom prst="rect">
            <a:avLst/>
          </a:prstGeom>
          <a:noFill/>
        </p:spPr>
        <p:txBody>
          <a:bodyPr wrap="square">
            <a:spAutoFit/>
          </a:bodyPr>
          <a:lstStyle/>
          <a:p>
            <a:pPr algn="ctr"/>
            <a:r>
              <a:rPr sz="1200" b="1" i="0">
                <a:solidFill>
                  <a:srgbClr val="06B6D4"/>
                </a:solidFill>
                <a:latin typeface="Calibri"/>
              </a:rPr>
              <a:t>Mobile App</a:t>
            </a:r>
          </a:p>
        </p:txBody>
      </p:sp>
      <p:sp>
        <p:nvSpPr>
          <p:cNvPr id="10" name="TextBox 9"/>
          <p:cNvSpPr txBox="1"/>
          <p:nvPr/>
        </p:nvSpPr>
        <p:spPr>
          <a:xfrm>
            <a:off x="457200" y="2807208"/>
            <a:ext cx="2468880" cy="621792"/>
          </a:xfrm>
          <a:prstGeom prst="rect">
            <a:avLst/>
          </a:prstGeom>
          <a:noFill/>
        </p:spPr>
        <p:txBody>
          <a:bodyPr wrap="square">
            <a:spAutoFit/>
          </a:bodyPr>
          <a:lstStyle/>
          <a:p>
            <a:pPr algn="ctr"/>
            <a:r>
              <a:rPr sz="1000" b="0" i="0">
                <a:solidFill>
                  <a:srgbClr val="94A3B8"/>
                </a:solidFill>
                <a:latin typeface="Calibri"/>
              </a:rPr>
              <a:t>Develop Android &amp; iOS version of the assistant</a:t>
            </a:r>
          </a:p>
        </p:txBody>
      </p:sp>
      <p:sp>
        <p:nvSpPr>
          <p:cNvPr id="11" name="Rectangle 10"/>
          <p:cNvSpPr/>
          <p:nvPr/>
        </p:nvSpPr>
        <p:spPr>
          <a:xfrm>
            <a:off x="3291840" y="141732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97680" y="1581912"/>
            <a:ext cx="685800" cy="6858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61848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14" name="TextBox 13"/>
          <p:cNvSpPr txBox="1"/>
          <p:nvPr/>
        </p:nvSpPr>
        <p:spPr>
          <a:xfrm>
            <a:off x="3383280" y="2404872"/>
            <a:ext cx="2468880" cy="384048"/>
          </a:xfrm>
          <a:prstGeom prst="rect">
            <a:avLst/>
          </a:prstGeom>
          <a:noFill/>
        </p:spPr>
        <p:txBody>
          <a:bodyPr wrap="square">
            <a:spAutoFit/>
          </a:bodyPr>
          <a:lstStyle/>
          <a:p>
            <a:pPr algn="ctr"/>
            <a:r>
              <a:rPr sz="1200" b="1" i="0">
                <a:solidFill>
                  <a:srgbClr val="10B981"/>
                </a:solidFill>
                <a:latin typeface="Calibri"/>
              </a:rPr>
              <a:t>Web Version</a:t>
            </a:r>
          </a:p>
        </p:txBody>
      </p:sp>
      <p:sp>
        <p:nvSpPr>
          <p:cNvPr id="15" name="TextBox 14"/>
          <p:cNvSpPr txBox="1"/>
          <p:nvPr/>
        </p:nvSpPr>
        <p:spPr>
          <a:xfrm>
            <a:off x="3383280" y="2807208"/>
            <a:ext cx="2468880" cy="621792"/>
          </a:xfrm>
          <a:prstGeom prst="rect">
            <a:avLst/>
          </a:prstGeom>
          <a:noFill/>
        </p:spPr>
        <p:txBody>
          <a:bodyPr wrap="square">
            <a:spAutoFit/>
          </a:bodyPr>
          <a:lstStyle/>
          <a:p>
            <a:pPr algn="ctr"/>
            <a:r>
              <a:rPr sz="1000" b="0" i="0">
                <a:solidFill>
                  <a:srgbClr val="94A3B8"/>
                </a:solidFill>
                <a:latin typeface="Calibri"/>
              </a:rPr>
              <a:t>Browser-based access — no installation needed</a:t>
            </a:r>
          </a:p>
        </p:txBody>
      </p:sp>
      <p:sp>
        <p:nvSpPr>
          <p:cNvPr id="16" name="Rectangle 15"/>
          <p:cNvSpPr/>
          <p:nvPr/>
        </p:nvSpPr>
        <p:spPr>
          <a:xfrm>
            <a:off x="6217920" y="141732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23760" y="1581912"/>
            <a:ext cx="685800" cy="685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161848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19" name="TextBox 18"/>
          <p:cNvSpPr txBox="1"/>
          <p:nvPr/>
        </p:nvSpPr>
        <p:spPr>
          <a:xfrm>
            <a:off x="6309360" y="2404872"/>
            <a:ext cx="2468880" cy="384048"/>
          </a:xfrm>
          <a:prstGeom prst="rect">
            <a:avLst/>
          </a:prstGeom>
          <a:noFill/>
        </p:spPr>
        <p:txBody>
          <a:bodyPr wrap="square">
            <a:spAutoFit/>
          </a:bodyPr>
          <a:lstStyle/>
          <a:p>
            <a:pPr algn="ctr"/>
            <a:r>
              <a:rPr sz="1200" b="1" i="0">
                <a:solidFill>
                  <a:srgbClr val="F59E0B"/>
                </a:solidFill>
                <a:latin typeface="Calibri"/>
              </a:rPr>
              <a:t>Multi-language</a:t>
            </a:r>
          </a:p>
        </p:txBody>
      </p:sp>
      <p:sp>
        <p:nvSpPr>
          <p:cNvPr id="20" name="TextBox 19"/>
          <p:cNvSpPr txBox="1"/>
          <p:nvPr/>
        </p:nvSpPr>
        <p:spPr>
          <a:xfrm>
            <a:off x="6309360" y="2807208"/>
            <a:ext cx="2468880" cy="621792"/>
          </a:xfrm>
          <a:prstGeom prst="rect">
            <a:avLst/>
          </a:prstGeom>
          <a:noFill/>
        </p:spPr>
        <p:txBody>
          <a:bodyPr wrap="square">
            <a:spAutoFit/>
          </a:bodyPr>
          <a:lstStyle/>
          <a:p>
            <a:pPr algn="ctr"/>
            <a:r>
              <a:rPr sz="1000" b="0" i="0">
                <a:solidFill>
                  <a:srgbClr val="94A3B8"/>
                </a:solidFill>
                <a:latin typeface="Calibri"/>
              </a:rPr>
              <a:t>Support Urdu, Arabic, Hindi and other languages</a:t>
            </a:r>
          </a:p>
        </p:txBody>
      </p:sp>
      <p:sp>
        <p:nvSpPr>
          <p:cNvPr id="21" name="Rectangle 20"/>
          <p:cNvSpPr/>
          <p:nvPr/>
        </p:nvSpPr>
        <p:spPr>
          <a:xfrm>
            <a:off x="9144000" y="141732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49840" y="1581912"/>
            <a:ext cx="685800" cy="6858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161848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24" name="TextBox 23"/>
          <p:cNvSpPr txBox="1"/>
          <p:nvPr/>
        </p:nvSpPr>
        <p:spPr>
          <a:xfrm>
            <a:off x="9235440" y="2404872"/>
            <a:ext cx="2468880" cy="384048"/>
          </a:xfrm>
          <a:prstGeom prst="rect">
            <a:avLst/>
          </a:prstGeom>
          <a:noFill/>
        </p:spPr>
        <p:txBody>
          <a:bodyPr wrap="square">
            <a:spAutoFit/>
          </a:bodyPr>
          <a:lstStyle/>
          <a:p>
            <a:pPr algn="ctr"/>
            <a:r>
              <a:rPr sz="1200" b="1" i="0">
                <a:solidFill>
                  <a:srgbClr val="7C3AED"/>
                </a:solidFill>
                <a:latin typeface="Calibri"/>
              </a:rPr>
              <a:t>Quiz Generator</a:t>
            </a:r>
          </a:p>
        </p:txBody>
      </p:sp>
      <p:sp>
        <p:nvSpPr>
          <p:cNvPr id="25" name="TextBox 24"/>
          <p:cNvSpPr txBox="1"/>
          <p:nvPr/>
        </p:nvSpPr>
        <p:spPr>
          <a:xfrm>
            <a:off x="9235440" y="2807208"/>
            <a:ext cx="2468880" cy="621792"/>
          </a:xfrm>
          <a:prstGeom prst="rect">
            <a:avLst/>
          </a:prstGeom>
          <a:noFill/>
        </p:spPr>
        <p:txBody>
          <a:bodyPr wrap="square">
            <a:spAutoFit/>
          </a:bodyPr>
          <a:lstStyle/>
          <a:p>
            <a:pPr algn="ctr"/>
            <a:r>
              <a:rPr sz="1000" b="0" i="0">
                <a:solidFill>
                  <a:srgbClr val="94A3B8"/>
                </a:solidFill>
                <a:latin typeface="Calibri"/>
              </a:rPr>
              <a:t>Auto-generate practice questions from study material</a:t>
            </a:r>
          </a:p>
        </p:txBody>
      </p:sp>
      <p:sp>
        <p:nvSpPr>
          <p:cNvPr id="26" name="Rectangle 25"/>
          <p:cNvSpPr/>
          <p:nvPr/>
        </p:nvSpPr>
        <p:spPr>
          <a:xfrm>
            <a:off x="365760" y="384048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71600" y="4005072"/>
            <a:ext cx="685800" cy="6858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71600" y="404164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29" name="TextBox 28"/>
          <p:cNvSpPr txBox="1"/>
          <p:nvPr/>
        </p:nvSpPr>
        <p:spPr>
          <a:xfrm>
            <a:off x="457200" y="4828032"/>
            <a:ext cx="2468880" cy="384048"/>
          </a:xfrm>
          <a:prstGeom prst="rect">
            <a:avLst/>
          </a:prstGeom>
          <a:noFill/>
        </p:spPr>
        <p:txBody>
          <a:bodyPr wrap="square">
            <a:spAutoFit/>
          </a:bodyPr>
          <a:lstStyle/>
          <a:p>
            <a:pPr algn="ctr"/>
            <a:r>
              <a:rPr sz="1200" b="1" i="0">
                <a:solidFill>
                  <a:srgbClr val="EF4444"/>
                </a:solidFill>
                <a:latin typeface="Calibri"/>
              </a:rPr>
              <a:t>Assignment Eval</a:t>
            </a:r>
          </a:p>
        </p:txBody>
      </p:sp>
      <p:sp>
        <p:nvSpPr>
          <p:cNvPr id="30" name="TextBox 29"/>
          <p:cNvSpPr txBox="1"/>
          <p:nvPr/>
        </p:nvSpPr>
        <p:spPr>
          <a:xfrm>
            <a:off x="457200" y="5230368"/>
            <a:ext cx="2468880" cy="621792"/>
          </a:xfrm>
          <a:prstGeom prst="rect">
            <a:avLst/>
          </a:prstGeom>
          <a:noFill/>
        </p:spPr>
        <p:txBody>
          <a:bodyPr wrap="square">
            <a:spAutoFit/>
          </a:bodyPr>
          <a:lstStyle/>
          <a:p>
            <a:pPr algn="ctr"/>
            <a:r>
              <a:rPr sz="1000" b="0" i="0">
                <a:solidFill>
                  <a:srgbClr val="94A3B8"/>
                </a:solidFill>
                <a:latin typeface="Calibri"/>
              </a:rPr>
              <a:t>AI-powered assignment checking and feedback</a:t>
            </a:r>
          </a:p>
        </p:txBody>
      </p:sp>
      <p:sp>
        <p:nvSpPr>
          <p:cNvPr id="31" name="Rectangle 30"/>
          <p:cNvSpPr/>
          <p:nvPr/>
        </p:nvSpPr>
        <p:spPr>
          <a:xfrm>
            <a:off x="3291840" y="384048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297680" y="4005072"/>
            <a:ext cx="685800" cy="6858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404164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34" name="TextBox 33"/>
          <p:cNvSpPr txBox="1"/>
          <p:nvPr/>
        </p:nvSpPr>
        <p:spPr>
          <a:xfrm>
            <a:off x="3383280" y="4828032"/>
            <a:ext cx="2468880" cy="384048"/>
          </a:xfrm>
          <a:prstGeom prst="rect">
            <a:avLst/>
          </a:prstGeom>
          <a:noFill/>
        </p:spPr>
        <p:txBody>
          <a:bodyPr wrap="square">
            <a:spAutoFit/>
          </a:bodyPr>
          <a:lstStyle/>
          <a:p>
            <a:pPr algn="ctr"/>
            <a:r>
              <a:rPr sz="1200" b="1" i="0">
                <a:solidFill>
                  <a:srgbClr val="1E40AF"/>
                </a:solidFill>
                <a:latin typeface="Calibri"/>
              </a:rPr>
              <a:t>Cloud Sync</a:t>
            </a:r>
          </a:p>
        </p:txBody>
      </p:sp>
      <p:sp>
        <p:nvSpPr>
          <p:cNvPr id="35" name="TextBox 34"/>
          <p:cNvSpPr txBox="1"/>
          <p:nvPr/>
        </p:nvSpPr>
        <p:spPr>
          <a:xfrm>
            <a:off x="3383280" y="5230368"/>
            <a:ext cx="2468880" cy="621792"/>
          </a:xfrm>
          <a:prstGeom prst="rect">
            <a:avLst/>
          </a:prstGeom>
          <a:noFill/>
        </p:spPr>
        <p:txBody>
          <a:bodyPr wrap="square">
            <a:spAutoFit/>
          </a:bodyPr>
          <a:lstStyle/>
          <a:p>
            <a:pPr algn="ctr"/>
            <a:r>
              <a:rPr sz="1000" b="0" i="0">
                <a:solidFill>
                  <a:srgbClr val="94A3B8"/>
                </a:solidFill>
                <a:latin typeface="Calibri"/>
              </a:rPr>
              <a:t>Sync chat history across multiple devices</a:t>
            </a:r>
          </a:p>
        </p:txBody>
      </p:sp>
      <p:sp>
        <p:nvSpPr>
          <p:cNvPr id="36" name="Rectangle 35"/>
          <p:cNvSpPr/>
          <p:nvPr/>
        </p:nvSpPr>
        <p:spPr>
          <a:xfrm>
            <a:off x="6217920" y="384048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23760" y="4005072"/>
            <a:ext cx="685800" cy="68580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23760" y="404164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39" name="TextBox 38"/>
          <p:cNvSpPr txBox="1"/>
          <p:nvPr/>
        </p:nvSpPr>
        <p:spPr>
          <a:xfrm>
            <a:off x="6309360" y="4828032"/>
            <a:ext cx="2468880" cy="384048"/>
          </a:xfrm>
          <a:prstGeom prst="rect">
            <a:avLst/>
          </a:prstGeom>
          <a:noFill/>
        </p:spPr>
        <p:txBody>
          <a:bodyPr wrap="square">
            <a:spAutoFit/>
          </a:bodyPr>
          <a:lstStyle/>
          <a:p>
            <a:pPr algn="ctr"/>
            <a:r>
              <a:rPr sz="1200" b="1" i="0">
                <a:solidFill>
                  <a:srgbClr val="F97316"/>
                </a:solidFill>
                <a:latin typeface="Calibri"/>
              </a:rPr>
              <a:t>Offline AI</a:t>
            </a:r>
          </a:p>
        </p:txBody>
      </p:sp>
      <p:sp>
        <p:nvSpPr>
          <p:cNvPr id="40" name="TextBox 39"/>
          <p:cNvSpPr txBox="1"/>
          <p:nvPr/>
        </p:nvSpPr>
        <p:spPr>
          <a:xfrm>
            <a:off x="6309360" y="5230368"/>
            <a:ext cx="2468880" cy="621792"/>
          </a:xfrm>
          <a:prstGeom prst="rect">
            <a:avLst/>
          </a:prstGeom>
          <a:noFill/>
        </p:spPr>
        <p:txBody>
          <a:bodyPr wrap="square">
            <a:spAutoFit/>
          </a:bodyPr>
          <a:lstStyle/>
          <a:p>
            <a:pPr algn="ctr"/>
            <a:r>
              <a:rPr sz="1000" b="0" i="0">
                <a:solidFill>
                  <a:srgbClr val="94A3B8"/>
                </a:solidFill>
                <a:latin typeface="Calibri"/>
              </a:rPr>
              <a:t>Integrate local LLM for offline usage</a:t>
            </a:r>
          </a:p>
        </p:txBody>
      </p:sp>
      <p:sp>
        <p:nvSpPr>
          <p:cNvPr id="41" name="Rectangle 40"/>
          <p:cNvSpPr/>
          <p:nvPr/>
        </p:nvSpPr>
        <p:spPr>
          <a:xfrm>
            <a:off x="9144000" y="3840480"/>
            <a:ext cx="265176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149840" y="4005072"/>
            <a:ext cx="685800" cy="6858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49840" y="4041648"/>
            <a:ext cx="685800" cy="594360"/>
          </a:xfrm>
          <a:prstGeom prst="rect">
            <a:avLst/>
          </a:prstGeom>
          <a:noFill/>
        </p:spPr>
        <p:txBody>
          <a:bodyPr wrap="square">
            <a:spAutoFit/>
          </a:bodyPr>
          <a:lstStyle/>
          <a:p>
            <a:pPr algn="ctr"/>
            <a:r>
              <a:rPr sz="1800" b="0" i="0">
                <a:solidFill>
                  <a:srgbClr val="FFFFFF"/>
                </a:solidFill>
                <a:latin typeface="Calibri"/>
              </a:rPr>
              <a:t>📊</a:t>
            </a:r>
          </a:p>
        </p:txBody>
      </p:sp>
      <p:sp>
        <p:nvSpPr>
          <p:cNvPr id="44" name="TextBox 43"/>
          <p:cNvSpPr txBox="1"/>
          <p:nvPr/>
        </p:nvSpPr>
        <p:spPr>
          <a:xfrm>
            <a:off x="9235440" y="4828032"/>
            <a:ext cx="2468880" cy="384048"/>
          </a:xfrm>
          <a:prstGeom prst="rect">
            <a:avLst/>
          </a:prstGeom>
          <a:noFill/>
        </p:spPr>
        <p:txBody>
          <a:bodyPr wrap="square">
            <a:spAutoFit/>
          </a:bodyPr>
          <a:lstStyle/>
          <a:p>
            <a:pPr algn="ctr"/>
            <a:r>
              <a:rPr sz="1200" b="1" i="0">
                <a:solidFill>
                  <a:srgbClr val="94A3B8"/>
                </a:solidFill>
                <a:latin typeface="Calibri"/>
              </a:rPr>
              <a:t>Analytics</a:t>
            </a:r>
          </a:p>
        </p:txBody>
      </p:sp>
      <p:sp>
        <p:nvSpPr>
          <p:cNvPr id="45" name="TextBox 44"/>
          <p:cNvSpPr txBox="1"/>
          <p:nvPr/>
        </p:nvSpPr>
        <p:spPr>
          <a:xfrm>
            <a:off x="9235440" y="5230368"/>
            <a:ext cx="2468880" cy="621792"/>
          </a:xfrm>
          <a:prstGeom prst="rect">
            <a:avLst/>
          </a:prstGeom>
          <a:noFill/>
        </p:spPr>
        <p:txBody>
          <a:bodyPr wrap="square">
            <a:spAutoFit/>
          </a:bodyPr>
          <a:lstStyle/>
          <a:p>
            <a:pPr algn="ctr"/>
            <a:r>
              <a:rPr sz="1000" b="0" i="0">
                <a:solidFill>
                  <a:srgbClr val="94A3B8"/>
                </a:solidFill>
                <a:latin typeface="Calibri"/>
              </a:rPr>
              <a:t>Track study patterns and performance over time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274320"/>
            <a:ext cx="2560320" cy="256032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89920" y="3657600"/>
            <a:ext cx="1645920" cy="1645920"/>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0" y="5303520"/>
            <a:ext cx="914400" cy="914400"/>
          </a:xfrm>
          <a:prstGeom prst="ellipse">
            <a:avLst/>
          </a:prstGeom>
          <a:solidFill>
            <a:srgbClr val="064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645920"/>
            <a:ext cx="8412480"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83080"/>
            <a:ext cx="8686800" cy="1005840"/>
          </a:xfrm>
          <a:prstGeom prst="rect">
            <a:avLst/>
          </a:prstGeom>
          <a:noFill/>
        </p:spPr>
        <p:txBody>
          <a:bodyPr wrap="square">
            <a:spAutoFit/>
          </a:bodyPr>
          <a:lstStyle/>
          <a:p>
            <a:pPr algn="l"/>
            <a:r>
              <a:rPr sz="4400" b="1" i="0">
                <a:solidFill>
                  <a:srgbClr val="FFFFFF"/>
                </a:solidFill>
                <a:latin typeface="Calibri"/>
              </a:rPr>
              <a:t>CONCLUSION</a:t>
            </a:r>
          </a:p>
        </p:txBody>
      </p:sp>
      <p:sp>
        <p:nvSpPr>
          <p:cNvPr id="8" name="TextBox 7"/>
          <p:cNvSpPr txBox="1"/>
          <p:nvPr/>
        </p:nvSpPr>
        <p:spPr>
          <a:xfrm>
            <a:off x="457200" y="2834640"/>
            <a:ext cx="8686800" cy="502920"/>
          </a:xfrm>
          <a:prstGeom prst="rect">
            <a:avLst/>
          </a:prstGeom>
          <a:noFill/>
        </p:spPr>
        <p:txBody>
          <a:bodyPr wrap="square">
            <a:spAutoFit/>
          </a:bodyPr>
          <a:lstStyle/>
          <a:p>
            <a:pPr algn="l"/>
            <a:r>
              <a:rPr sz="1700" b="0" i="0">
                <a:solidFill>
                  <a:srgbClr val="06B6D4"/>
                </a:solidFill>
                <a:latin typeface="Calibri"/>
              </a:rPr>
              <a:t>Aura AI — Redefining How Students Learn</a:t>
            </a:r>
          </a:p>
        </p:txBody>
      </p:sp>
      <p:sp>
        <p:nvSpPr>
          <p:cNvPr id="9" name="TextBox 8"/>
          <p:cNvSpPr txBox="1"/>
          <p:nvPr/>
        </p:nvSpPr>
        <p:spPr>
          <a:xfrm>
            <a:off x="457200" y="3493008"/>
            <a:ext cx="8686800" cy="2286000"/>
          </a:xfrm>
          <a:prstGeom prst="rect">
            <a:avLst/>
          </a:prstGeom>
          <a:noFill/>
        </p:spPr>
        <p:txBody>
          <a:bodyPr wrap="square">
            <a:spAutoFit/>
          </a:bodyPr>
          <a:lstStyle/>
          <a:p>
            <a:pPr algn="l">
              <a:spcBef>
                <a:spcPts val="300"/>
              </a:spcBef>
            </a:pPr>
            <a:r>
              <a:rPr sz="1300" b="0">
                <a:solidFill>
                  <a:srgbClr val="F1F5F9"/>
                </a:solidFill>
                <a:latin typeface="Calibri"/>
              </a:rPr>
              <a:t>  ›  AI Study Assistant successfully demonstrates AI's application in education</a:t>
            </a:r>
          </a:p>
          <a:p>
            <a:pPr algn="l">
              <a:spcBef>
                <a:spcPts val="300"/>
              </a:spcBef>
            </a:pPr>
            <a:r>
              <a:rPr sz="1300" b="0">
                <a:solidFill>
                  <a:srgbClr val="F1F5F9"/>
                </a:solidFill>
                <a:latin typeface="Calibri"/>
              </a:rPr>
              <a:t>  ›  Integrates NLP, Speech Recognition, TTS &amp; PDF processing in one platform</a:t>
            </a:r>
          </a:p>
          <a:p>
            <a:pPr algn="l">
              <a:spcBef>
                <a:spcPts val="300"/>
              </a:spcBef>
            </a:pPr>
            <a:r>
              <a:rPr sz="1300" b="0">
                <a:solidFill>
                  <a:srgbClr val="F1F5F9"/>
                </a:solidFill>
                <a:latin typeface="Calibri"/>
              </a:rPr>
              <a:t>  ›  Provides comprehensive learning support — enhancing student productivity</a:t>
            </a:r>
          </a:p>
          <a:p>
            <a:pPr algn="l">
              <a:spcBef>
                <a:spcPts val="300"/>
              </a:spcBef>
            </a:pPr>
            <a:r>
              <a:rPr sz="1300" b="0">
                <a:solidFill>
                  <a:srgbClr val="F1F5F9"/>
                </a:solidFill>
                <a:latin typeface="Calibri"/>
              </a:rPr>
              <a:t>  ›  Highlights the growing role of AI in modern personalized education</a:t>
            </a:r>
          </a:p>
          <a:p>
            <a:pPr algn="l">
              <a:spcBef>
                <a:spcPts val="300"/>
              </a:spcBef>
            </a:pPr>
            <a:r>
              <a:rPr sz="1300" b="0">
                <a:solidFill>
                  <a:srgbClr val="F1F5F9"/>
                </a:solidFill>
                <a:latin typeface="Calibri"/>
              </a:rPr>
              <a:t>  ›  Future scope includes mobile apps, offline AI and multi-language support</a:t>
            </a:r>
          </a:p>
        </p:txBody>
      </p:sp>
      <p:sp>
        <p:nvSpPr>
          <p:cNvPr id="10" name="Rectangle 9"/>
          <p:cNvSpPr/>
          <p:nvPr/>
        </p:nvSpPr>
        <p:spPr>
          <a:xfrm>
            <a:off x="457200" y="5943600"/>
            <a:ext cx="8686800"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035040"/>
            <a:ext cx="8412480" cy="475488"/>
          </a:xfrm>
          <a:prstGeom prst="rect">
            <a:avLst/>
          </a:prstGeom>
          <a:noFill/>
        </p:spPr>
        <p:txBody>
          <a:bodyPr wrap="square">
            <a:spAutoFit/>
          </a:bodyPr>
          <a:lstStyle/>
          <a:p>
            <a:pPr algn="l"/>
            <a:r>
              <a:rPr sz="1200" b="0" i="0">
                <a:solidFill>
                  <a:srgbClr val="94A3B8"/>
                </a:solidFill>
                <a:latin typeface="Calibri"/>
              </a:rPr>
              <a:t>Submitted by:   Muhammad Adrees   &amp;   Rizwan Haider   ·   CS-602   ·   Instructor: Faisal Hafeez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